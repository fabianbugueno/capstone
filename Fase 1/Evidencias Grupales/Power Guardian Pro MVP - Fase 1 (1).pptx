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6858000" cx="12192000"/>
  <p:notesSz cx="6858000" cy="9144000"/>
  <p:embeddedFontLst>
    <p:embeddedFont>
      <p:font typeface="Inter SemiBold"/>
      <p:regular r:id="rId27"/>
      <p:bold r:id="rId28"/>
      <p:italic r:id="rId29"/>
      <p:boldItalic r:id="rId30"/>
    </p:embeddedFont>
    <p:embeddedFont>
      <p:font typeface="Inter"/>
      <p:regular r:id="rId31"/>
      <p:bold r:id="rId32"/>
      <p:italic r:id="rId33"/>
      <p:boldItalic r:id="rId34"/>
    </p:embeddedFont>
    <p:embeddedFont>
      <p:font typeface="Inter ExtraBold"/>
      <p:bold r:id="rId35"/>
      <p:boldItalic r:id="rId36"/>
    </p:embeddedFont>
    <p:embeddedFont>
      <p:font typeface="Inter Medium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1" roundtripDataSignature="AMtx7mjEMHqUzvLv+OlrqCe3/Yuhu03h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B147A0E-23DD-451E-88A9-2E759A945C49}">
  <a:tblStyle styleId="{3B147A0E-23DD-451E-88A9-2E759A945C4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008E38C6-CE2C-4549-B393-4DCFF8A25CB4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terMedium-boldItalic.fntdata"/><Relationship Id="rId20" Type="http://schemas.openxmlformats.org/officeDocument/2006/relationships/slide" Target="slides/slide14.xml"/><Relationship Id="rId41" Type="http://customschemas.google.com/relationships/presentationmetadata" Target="meta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InterSemiBold-bold.fntdata"/><Relationship Id="rId27" Type="http://schemas.openxmlformats.org/officeDocument/2006/relationships/font" Target="fonts/InterSemiBold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SemiBold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-regular.fntdata"/><Relationship Id="rId30" Type="http://schemas.openxmlformats.org/officeDocument/2006/relationships/font" Target="fonts/InterSemiBold-boldItalic.fntdata"/><Relationship Id="rId11" Type="http://schemas.openxmlformats.org/officeDocument/2006/relationships/slide" Target="slides/slide5.xml"/><Relationship Id="rId33" Type="http://schemas.openxmlformats.org/officeDocument/2006/relationships/font" Target="fonts/Inter-italic.fntdata"/><Relationship Id="rId10" Type="http://schemas.openxmlformats.org/officeDocument/2006/relationships/slide" Target="slides/slide4.xml"/><Relationship Id="rId32" Type="http://schemas.openxmlformats.org/officeDocument/2006/relationships/font" Target="fonts/Inter-bold.fntdata"/><Relationship Id="rId13" Type="http://schemas.openxmlformats.org/officeDocument/2006/relationships/slide" Target="slides/slide7.xml"/><Relationship Id="rId35" Type="http://schemas.openxmlformats.org/officeDocument/2006/relationships/font" Target="fonts/InterExtraBold-bold.fntdata"/><Relationship Id="rId12" Type="http://schemas.openxmlformats.org/officeDocument/2006/relationships/slide" Target="slides/slide6.xml"/><Relationship Id="rId34" Type="http://schemas.openxmlformats.org/officeDocument/2006/relationships/font" Target="fonts/Inter-boldItalic.fntdata"/><Relationship Id="rId15" Type="http://schemas.openxmlformats.org/officeDocument/2006/relationships/slide" Target="slides/slide9.xml"/><Relationship Id="rId37" Type="http://schemas.openxmlformats.org/officeDocument/2006/relationships/font" Target="fonts/InterMedium-regular.fntdata"/><Relationship Id="rId14" Type="http://schemas.openxmlformats.org/officeDocument/2006/relationships/slide" Target="slides/slide8.xml"/><Relationship Id="rId36" Type="http://schemas.openxmlformats.org/officeDocument/2006/relationships/font" Target="fonts/InterExtraBold-boldItalic.fntdata"/><Relationship Id="rId17" Type="http://schemas.openxmlformats.org/officeDocument/2006/relationships/slide" Target="slides/slide11.xml"/><Relationship Id="rId39" Type="http://schemas.openxmlformats.org/officeDocument/2006/relationships/font" Target="fonts/InterMedium-italic.fntdata"/><Relationship Id="rId16" Type="http://schemas.openxmlformats.org/officeDocument/2006/relationships/slide" Target="slides/slide10.xml"/><Relationship Id="rId38" Type="http://schemas.openxmlformats.org/officeDocument/2006/relationships/font" Target="fonts/InterMedium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f8548adf50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3f8548adf50_0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f8548adf50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3f8548adf50_0_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f8548adf50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g3f8548adf50_0_1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f9c8c7a50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g3f9c8c7a50e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f8548adf5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g3f8548adf50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f9b1a32ec0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g3f9b1a32ec0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f8548adf50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g3f8548adf50_0_2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f8548adf50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g3f8548adf50_0_2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f8548adf50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g3f8548adf50_0_1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6.png"/><Relationship Id="rId10" Type="http://schemas.openxmlformats.org/officeDocument/2006/relationships/image" Target="../media/image5.png"/><Relationship Id="rId13" Type="http://schemas.openxmlformats.org/officeDocument/2006/relationships/image" Target="../media/image29.png"/><Relationship Id="rId1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.png"/><Relationship Id="rId9" Type="http://schemas.openxmlformats.org/officeDocument/2006/relationships/image" Target="../media/image8.png"/><Relationship Id="rId5" Type="http://schemas.openxmlformats.org/officeDocument/2006/relationships/image" Target="../media/image34.png"/><Relationship Id="rId6" Type="http://schemas.openxmlformats.org/officeDocument/2006/relationships/image" Target="../media/image24.png"/><Relationship Id="rId7" Type="http://schemas.openxmlformats.org/officeDocument/2006/relationships/image" Target="../media/image7.png"/><Relationship Id="rId8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35.png"/><Relationship Id="rId10" Type="http://schemas.openxmlformats.org/officeDocument/2006/relationships/image" Target="../media/image14.png"/><Relationship Id="rId13" Type="http://schemas.openxmlformats.org/officeDocument/2006/relationships/image" Target="../media/image25.png"/><Relationship Id="rId1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1.png"/><Relationship Id="rId9" Type="http://schemas.openxmlformats.org/officeDocument/2006/relationships/image" Target="../media/image28.png"/><Relationship Id="rId5" Type="http://schemas.openxmlformats.org/officeDocument/2006/relationships/image" Target="../media/image9.png"/><Relationship Id="rId6" Type="http://schemas.openxmlformats.org/officeDocument/2006/relationships/image" Target="../media/image11.png"/><Relationship Id="rId7" Type="http://schemas.openxmlformats.org/officeDocument/2006/relationships/image" Target="../media/image23.png"/><Relationship Id="rId8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0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1.png"/><Relationship Id="rId9" Type="http://schemas.openxmlformats.org/officeDocument/2006/relationships/image" Target="../media/image45.png"/><Relationship Id="rId5" Type="http://schemas.openxmlformats.org/officeDocument/2006/relationships/image" Target="../media/image21.png"/><Relationship Id="rId6" Type="http://schemas.openxmlformats.org/officeDocument/2006/relationships/image" Target="../media/image19.png"/><Relationship Id="rId7" Type="http://schemas.openxmlformats.org/officeDocument/2006/relationships/image" Target="../media/image39.png"/><Relationship Id="rId8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1.png"/><Relationship Id="rId5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1.png"/><Relationship Id="rId5" Type="http://schemas.openxmlformats.org/officeDocument/2006/relationships/image" Target="../media/image20.png"/><Relationship Id="rId6" Type="http://schemas.openxmlformats.org/officeDocument/2006/relationships/image" Target="../media/image32.png"/><Relationship Id="rId7" Type="http://schemas.openxmlformats.org/officeDocument/2006/relationships/image" Target="../media/image4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Relationship Id="rId4" Type="http://schemas.openxmlformats.org/officeDocument/2006/relationships/image" Target="../media/image1.png"/><Relationship Id="rId5" Type="http://schemas.openxmlformats.org/officeDocument/2006/relationships/image" Target="../media/image3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Relationship Id="rId4" Type="http://schemas.openxmlformats.org/officeDocument/2006/relationships/image" Target="../media/image1.png"/><Relationship Id="rId5" Type="http://schemas.openxmlformats.org/officeDocument/2006/relationships/image" Target="../media/image27.png"/><Relationship Id="rId6" Type="http://schemas.openxmlformats.org/officeDocument/2006/relationships/image" Target="../media/image3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Relationship Id="rId4" Type="http://schemas.openxmlformats.org/officeDocument/2006/relationships/image" Target="../media/image1.png"/><Relationship Id="rId5" Type="http://schemas.openxmlformats.org/officeDocument/2006/relationships/image" Target="../media/image33.png"/><Relationship Id="rId6" Type="http://schemas.openxmlformats.org/officeDocument/2006/relationships/image" Target="../media/image3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Relationship Id="rId4" Type="http://schemas.openxmlformats.org/officeDocument/2006/relationships/image" Target="../media/image1.png"/><Relationship Id="rId5" Type="http://schemas.openxmlformats.org/officeDocument/2006/relationships/image" Target="../media/image26.png"/><Relationship Id="rId6" Type="http://schemas.openxmlformats.org/officeDocument/2006/relationships/image" Target="../media/image53.png"/><Relationship Id="rId7" Type="http://schemas.openxmlformats.org/officeDocument/2006/relationships/image" Target="../media/image4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Relationship Id="rId4" Type="http://schemas.openxmlformats.org/officeDocument/2006/relationships/image" Target="../media/image1.png"/><Relationship Id="rId9" Type="http://schemas.openxmlformats.org/officeDocument/2006/relationships/image" Target="../media/image54.png"/><Relationship Id="rId5" Type="http://schemas.openxmlformats.org/officeDocument/2006/relationships/image" Target="../media/image9.png"/><Relationship Id="rId6" Type="http://schemas.openxmlformats.org/officeDocument/2006/relationships/image" Target="../media/image50.png"/><Relationship Id="rId7" Type="http://schemas.openxmlformats.org/officeDocument/2006/relationships/image" Target="../media/image51.png"/><Relationship Id="rId8" Type="http://schemas.openxmlformats.org/officeDocument/2006/relationships/image" Target="../media/image5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Relationship Id="rId4" Type="http://schemas.openxmlformats.org/officeDocument/2006/relationships/image" Target="../media/image1.png"/><Relationship Id="rId5" Type="http://schemas.openxmlformats.org/officeDocument/2006/relationships/image" Target="../media/image3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Relationship Id="rId4" Type="http://schemas.openxmlformats.org/officeDocument/2006/relationships/image" Target="../media/image1.png"/><Relationship Id="rId5" Type="http://schemas.openxmlformats.org/officeDocument/2006/relationships/image" Target="../media/image27.png"/></Relationships>
</file>

<file path=ppt/slides/_rels/slide20.xml.rels><?xml version="1.0" encoding="UTF-8" standalone="yes"?><Relationships xmlns="http://schemas.openxmlformats.org/package/2006/relationships"><Relationship Id="rId11" Type="http://schemas.openxmlformats.org/officeDocument/2006/relationships/image" Target="../media/image44.png"/><Relationship Id="rId10" Type="http://schemas.openxmlformats.org/officeDocument/2006/relationships/image" Target="../media/image46.png"/><Relationship Id="rId12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Relationship Id="rId4" Type="http://schemas.openxmlformats.org/officeDocument/2006/relationships/image" Target="../media/image1.png"/><Relationship Id="rId9" Type="http://schemas.openxmlformats.org/officeDocument/2006/relationships/image" Target="../media/image42.png"/><Relationship Id="rId5" Type="http://schemas.openxmlformats.org/officeDocument/2006/relationships/image" Target="../media/image47.png"/><Relationship Id="rId6" Type="http://schemas.openxmlformats.org/officeDocument/2006/relationships/image" Target="../media/image36.png"/><Relationship Id="rId7" Type="http://schemas.openxmlformats.org/officeDocument/2006/relationships/image" Target="../media/image41.png"/><Relationship Id="rId8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00375" y="3219450"/>
            <a:ext cx="6191250" cy="21621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 txBox="1"/>
          <p:nvPr/>
        </p:nvSpPr>
        <p:spPr>
          <a:xfrm>
            <a:off x="1878436" y="1169850"/>
            <a:ext cx="8696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Power Guardian Pro </a:t>
            </a:r>
            <a:r>
              <a:rPr b="1" i="0" lang="en-US" sz="48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MVP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2947987" y="2114550"/>
            <a:ext cx="62960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Plataforma Inteligente de Monitoreo de Calidad de Energía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3486150" y="3514725"/>
            <a:ext cx="548068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Fase 1 - Proyecto Capstone</a:t>
            </a:r>
            <a:endParaRPr/>
          </a:p>
        </p:txBody>
      </p:sp>
      <p:sp>
        <p:nvSpPr>
          <p:cNvPr id="89" name="Google Shape;89;p1"/>
          <p:cNvSpPr/>
          <p:nvPr/>
        </p:nvSpPr>
        <p:spPr>
          <a:xfrm>
            <a:off x="3486150" y="3886200"/>
            <a:ext cx="52197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3486150" y="4086225"/>
            <a:ext cx="52197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Equipo: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Cristóbal Mena, Francisco Neira, Fabián Bugueño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3486150" y="4419600"/>
            <a:ext cx="52197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Asignatura: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Proyecto APT - Capstone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3486150" y="4752975"/>
            <a:ext cx="52197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Institución: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Duoc UC, Ingeniería en Informática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7" name="Google Shape;9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6305550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"/>
          <p:cNvSpPr txBox="1"/>
          <p:nvPr/>
        </p:nvSpPr>
        <p:spPr>
          <a:xfrm>
            <a:off x="521350" y="526375"/>
            <a:ext cx="11092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Tabla de Contenidos</a:t>
            </a:r>
            <a:endParaRPr/>
          </a:p>
        </p:txBody>
      </p:sp>
      <p:sp>
        <p:nvSpPr>
          <p:cNvPr id="99" name="Google Shape;99;p2"/>
          <p:cNvSpPr/>
          <p:nvPr/>
        </p:nvSpPr>
        <p:spPr>
          <a:xfrm>
            <a:off x="571500" y="110490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571500" y="6457950"/>
            <a:ext cx="16002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Power Guardian Pro MVP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11449050" y="6457950"/>
            <a:ext cx="1714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02</a:t>
            </a:r>
            <a:endParaRPr/>
          </a:p>
        </p:txBody>
      </p:sp>
      <p:graphicFrame>
        <p:nvGraphicFramePr>
          <p:cNvPr id="102" name="Google Shape;102;p2"/>
          <p:cNvGraphicFramePr/>
          <p:nvPr/>
        </p:nvGraphicFramePr>
        <p:xfrm>
          <a:off x="521350" y="15888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{3B147A0E-23DD-451E-88A9-2E759A945C49}</a:tableStyleId>
              </a:tblPr>
              <a:tblGrid>
                <a:gridCol w="5238750"/>
              </a:tblGrid>
              <a:tr h="487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800">
                          <a:solidFill>
                            <a:srgbClr val="0284C7"/>
                          </a:solidFill>
                          <a:latin typeface="Inter ExtraBold"/>
                          <a:ea typeface="Inter ExtraBold"/>
                          <a:cs typeface="Inter ExtraBold"/>
                          <a:sym typeface="Inter ExtraBold"/>
                        </a:rPr>
                        <a:t>01</a:t>
                      </a:r>
                      <a:r>
                        <a:rPr lang="en-US" sz="1800">
                          <a:solidFill>
                            <a:srgbClr val="334155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 Contexto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6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800">
                          <a:solidFill>
                            <a:srgbClr val="0284C7"/>
                          </a:solidFill>
                          <a:latin typeface="Inter ExtraBold"/>
                          <a:ea typeface="Inter ExtraBold"/>
                          <a:cs typeface="Inter ExtraBold"/>
                          <a:sym typeface="Inter ExtraBold"/>
                        </a:rPr>
                        <a:t>02 </a:t>
                      </a:r>
                      <a:r>
                        <a:rPr lang="en-US" sz="1800">
                          <a:solidFill>
                            <a:srgbClr val="334155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Problema 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6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800">
                          <a:solidFill>
                            <a:srgbClr val="0284C7"/>
                          </a:solidFill>
                          <a:latin typeface="Inter ExtraBold"/>
                          <a:ea typeface="Inter ExtraBold"/>
                          <a:cs typeface="Inter ExtraBold"/>
                          <a:sym typeface="Inter ExtraBold"/>
                        </a:rPr>
                        <a:t>03</a:t>
                      </a:r>
                      <a:r>
                        <a:rPr lang="en-US" sz="1800">
                          <a:solidFill>
                            <a:srgbClr val="334155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 Necesidad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6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800">
                          <a:solidFill>
                            <a:srgbClr val="0284C7"/>
                          </a:solidFill>
                          <a:latin typeface="Inter ExtraBold"/>
                          <a:ea typeface="Inter ExtraBold"/>
                          <a:cs typeface="Inter ExtraBold"/>
                          <a:sym typeface="Inter ExtraBold"/>
                        </a:rPr>
                        <a:t>04</a:t>
                      </a:r>
                      <a:r>
                        <a:rPr lang="en-US" sz="1800">
                          <a:solidFill>
                            <a:srgbClr val="334155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 Propuesta de solución</a:t>
                      </a:r>
                      <a:endParaRPr sz="1800">
                        <a:solidFill>
                          <a:srgbClr val="334155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  <a:p>
                      <a:pPr indent="0" lvl="0" marL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800">
                          <a:solidFill>
                            <a:srgbClr val="0284C7"/>
                          </a:solidFill>
                          <a:latin typeface="Inter ExtraBold"/>
                          <a:ea typeface="Inter ExtraBold"/>
                          <a:cs typeface="Inter ExtraBold"/>
                          <a:sym typeface="Inter ExtraBold"/>
                        </a:rPr>
                        <a:t>05</a:t>
                      </a:r>
                      <a:r>
                        <a:rPr lang="en-US" sz="1800">
                          <a:solidFill>
                            <a:srgbClr val="334155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 Requerimientos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6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800">
                          <a:solidFill>
                            <a:srgbClr val="0284C7"/>
                          </a:solidFill>
                          <a:latin typeface="Inter ExtraBold"/>
                          <a:ea typeface="Inter ExtraBold"/>
                          <a:cs typeface="Inter ExtraBold"/>
                          <a:sym typeface="Inter ExtraBold"/>
                        </a:rPr>
                        <a:t>06</a:t>
                      </a:r>
                      <a:r>
                        <a:rPr lang="en-US" sz="1800">
                          <a:solidFill>
                            <a:srgbClr val="334155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 Épicas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6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800">
                          <a:solidFill>
                            <a:srgbClr val="0284C7"/>
                          </a:solidFill>
                          <a:latin typeface="Inter ExtraBold"/>
                          <a:ea typeface="Inter ExtraBold"/>
                          <a:cs typeface="Inter ExtraBold"/>
                          <a:sym typeface="Inter ExtraBold"/>
                        </a:rPr>
                        <a:t>07</a:t>
                      </a:r>
                      <a:r>
                        <a:rPr lang="en-US" sz="1800">
                          <a:solidFill>
                            <a:srgbClr val="334155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 Historias de Usuario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6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800">
                          <a:solidFill>
                            <a:srgbClr val="0284C7"/>
                          </a:solidFill>
                          <a:latin typeface="Inter ExtraBold"/>
                          <a:ea typeface="Inter ExtraBold"/>
                          <a:cs typeface="Inter ExtraBold"/>
                          <a:sym typeface="Inter ExtraBold"/>
                        </a:rPr>
                        <a:t>08</a:t>
                      </a:r>
                      <a:r>
                        <a:rPr lang="en-US" sz="1800">
                          <a:solidFill>
                            <a:srgbClr val="334155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 Arquitectura del sistema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3" name="Google Shape;103;p2"/>
          <p:cNvGraphicFramePr/>
          <p:nvPr/>
        </p:nvGraphicFramePr>
        <p:xfrm>
          <a:off x="5760100" y="155833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{3B147A0E-23DD-451E-88A9-2E759A945C49}</a:tableStyleId>
              </a:tblPr>
              <a:tblGrid>
                <a:gridCol w="5238750"/>
              </a:tblGrid>
              <a:tr h="535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284C7"/>
                          </a:solidFill>
                          <a:latin typeface="Inter ExtraBold"/>
                          <a:ea typeface="Inter ExtraBold"/>
                          <a:cs typeface="Inter ExtraBold"/>
                          <a:sym typeface="Inter ExtraBold"/>
                        </a:rPr>
                        <a:t>09</a:t>
                      </a:r>
                      <a:r>
                        <a:rPr lang="en-US" sz="1800">
                          <a:solidFill>
                            <a:srgbClr val="334155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 Metodología de Trabajo</a:t>
                      </a:r>
                      <a:endParaRPr sz="1800">
                        <a:solidFill>
                          <a:srgbClr val="0284C7"/>
                        </a:solidFill>
                        <a:latin typeface="Inter ExtraBold"/>
                        <a:ea typeface="Inter ExtraBold"/>
                        <a:cs typeface="Inter ExtraBold"/>
                        <a:sym typeface="Inter Extra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5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800">
                          <a:solidFill>
                            <a:srgbClr val="0284C7"/>
                          </a:solidFill>
                          <a:latin typeface="Inter ExtraBold"/>
                          <a:ea typeface="Inter ExtraBold"/>
                          <a:cs typeface="Inter ExtraBold"/>
                          <a:sym typeface="Inter ExtraBold"/>
                        </a:rPr>
                        <a:t>1</a:t>
                      </a:r>
                      <a:r>
                        <a:rPr lang="en-US" sz="1800">
                          <a:solidFill>
                            <a:srgbClr val="0284C7"/>
                          </a:solidFill>
                          <a:latin typeface="Inter ExtraBold"/>
                          <a:ea typeface="Inter ExtraBold"/>
                          <a:cs typeface="Inter ExtraBold"/>
                          <a:sym typeface="Inter ExtraBold"/>
                        </a:rPr>
                        <a:t>0</a:t>
                      </a:r>
                      <a:r>
                        <a:rPr lang="en-US" sz="1800">
                          <a:solidFill>
                            <a:srgbClr val="334155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 Roles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284C7"/>
                        </a:solidFill>
                        <a:latin typeface="Inter ExtraBold"/>
                        <a:ea typeface="Inter ExtraBold"/>
                        <a:cs typeface="Inter ExtraBold"/>
                        <a:sym typeface="Inter Extra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0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800">
                          <a:solidFill>
                            <a:srgbClr val="0284C7"/>
                          </a:solidFill>
                          <a:latin typeface="Inter ExtraBold"/>
                          <a:ea typeface="Inter ExtraBold"/>
                          <a:cs typeface="Inter ExtraBold"/>
                          <a:sym typeface="Inter ExtraBold"/>
                        </a:rPr>
                        <a:t>11</a:t>
                      </a:r>
                      <a:r>
                        <a:rPr lang="en-US" sz="1800">
                          <a:solidFill>
                            <a:srgbClr val="334155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 Evidencias del Proyecto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284C7"/>
                        </a:solidFill>
                        <a:latin typeface="Inter ExtraBold"/>
                        <a:ea typeface="Inter ExtraBold"/>
                        <a:cs typeface="Inter ExtraBold"/>
                        <a:sym typeface="Inter Extra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0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800">
                          <a:solidFill>
                            <a:srgbClr val="0284C7"/>
                          </a:solidFill>
                          <a:latin typeface="Inter ExtraBold"/>
                          <a:ea typeface="Inter ExtraBold"/>
                          <a:cs typeface="Inter ExtraBold"/>
                          <a:sym typeface="Inter ExtraBold"/>
                        </a:rPr>
                        <a:t>12 </a:t>
                      </a:r>
                      <a:r>
                        <a:rPr lang="en-US" sz="1800">
                          <a:solidFill>
                            <a:srgbClr val="334155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Evidencias por Sprint 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284C7"/>
                        </a:solidFill>
                        <a:latin typeface="Inter ExtraBold"/>
                        <a:ea typeface="Inter ExtraBold"/>
                        <a:cs typeface="Inter ExtraBold"/>
                        <a:sym typeface="Inter Extra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0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800">
                          <a:solidFill>
                            <a:srgbClr val="0284C7"/>
                          </a:solidFill>
                          <a:latin typeface="Inter ExtraBold"/>
                          <a:ea typeface="Inter ExtraBold"/>
                          <a:cs typeface="Inter ExtraBold"/>
                          <a:sym typeface="Inter ExtraBold"/>
                        </a:rPr>
                        <a:t>13 </a:t>
                      </a:r>
                      <a:r>
                        <a:rPr lang="en-US" sz="1800">
                          <a:solidFill>
                            <a:srgbClr val="334155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Cronograma 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284C7"/>
                        </a:solidFill>
                        <a:latin typeface="Inter ExtraBold"/>
                        <a:ea typeface="Inter ExtraBold"/>
                        <a:cs typeface="Inter ExtraBold"/>
                        <a:sym typeface="Inter Extra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2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800">
                          <a:solidFill>
                            <a:srgbClr val="0284C7"/>
                          </a:solidFill>
                          <a:latin typeface="Inter ExtraBold"/>
                          <a:ea typeface="Inter ExtraBold"/>
                          <a:cs typeface="Inter ExtraBold"/>
                          <a:sym typeface="Inter ExtraBold"/>
                        </a:rPr>
                        <a:t>14</a:t>
                      </a:r>
                      <a:r>
                        <a:rPr lang="en-US" sz="1800">
                          <a:solidFill>
                            <a:srgbClr val="334155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 Conclusión</a:t>
                      </a:r>
                      <a:endParaRPr sz="1800">
                        <a:solidFill>
                          <a:srgbClr val="334155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  <a:p>
                      <a:pPr indent="0" lvl="0" marL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334155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  <a:p>
                      <a:pPr indent="0" lvl="0" marL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284C7"/>
                        </a:solidFill>
                        <a:latin typeface="Inter ExtraBold"/>
                        <a:ea typeface="Inter ExtraBold"/>
                        <a:cs typeface="Inter ExtraBold"/>
                        <a:sym typeface="Inter Extra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0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800">
                          <a:solidFill>
                            <a:srgbClr val="0284C7"/>
                          </a:solidFill>
                          <a:latin typeface="Inter ExtraBold"/>
                          <a:ea typeface="Inter ExtraBold"/>
                          <a:cs typeface="Inter ExtraBold"/>
                          <a:sym typeface="Inter ExtraBold"/>
                        </a:rPr>
                        <a:t>15</a:t>
                      </a:r>
                      <a:r>
                        <a:rPr lang="en-US" sz="1800">
                          <a:solidFill>
                            <a:srgbClr val="334155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 Reflexión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284C7"/>
                        </a:solidFill>
                        <a:latin typeface="Inter ExtraBold"/>
                        <a:ea typeface="Inter ExtraBold"/>
                        <a:cs typeface="Inter ExtraBold"/>
                        <a:sym typeface="Inter Extra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8" name="Google Shape;10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9707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305550"/>
            <a:ext cx="2495550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171187" y="76200"/>
            <a:ext cx="944612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 txBox="1"/>
          <p:nvPr/>
        </p:nvSpPr>
        <p:spPr>
          <a:xfrm>
            <a:off x="571500" y="476250"/>
            <a:ext cx="4898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-42862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150"/>
              <a:buFont typeface="Inter"/>
              <a:buAutoNum type="arabicPeriod"/>
            </a:pPr>
            <a:r>
              <a:rPr b="1" i="0" lang="en-US" sz="31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Contexto</a:t>
            </a:r>
            <a:endParaRPr/>
          </a:p>
        </p:txBody>
      </p:sp>
      <p:pic>
        <p:nvPicPr>
          <p:cNvPr descr="image.png" id="112" name="Google Shape;112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0"/>
            <a:ext cx="58102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3"/>
          <p:cNvSpPr txBox="1"/>
          <p:nvPr/>
        </p:nvSpPr>
        <p:spPr>
          <a:xfrm>
            <a:off x="571500" y="6457950"/>
            <a:ext cx="16002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Power Guardian Pro MVP</a:t>
            </a:r>
            <a:endParaRPr/>
          </a:p>
        </p:txBody>
      </p:sp>
      <p:sp>
        <p:nvSpPr>
          <p:cNvPr id="114" name="Google Shape;114;p3"/>
          <p:cNvSpPr txBox="1"/>
          <p:nvPr/>
        </p:nvSpPr>
        <p:spPr>
          <a:xfrm>
            <a:off x="25355550" y="6457950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03</a:t>
            </a:r>
            <a:endParaRPr/>
          </a:p>
        </p:txBody>
      </p:sp>
      <p:sp>
        <p:nvSpPr>
          <p:cNvPr id="115" name="Google Shape;115;p3"/>
          <p:cNvSpPr txBox="1"/>
          <p:nvPr/>
        </p:nvSpPr>
        <p:spPr>
          <a:xfrm>
            <a:off x="571500" y="1295400"/>
            <a:ext cx="5238750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El proyecto surge en colaboración con la empresa </a:t>
            </a:r>
            <a:r>
              <a:rPr b="1" i="0" lang="en-US" sz="14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INDUC TECH</a:t>
            </a:r>
            <a:r>
              <a:rPr b="0" i="0" lang="en-US" sz="14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y su tecnología preexistente: el hardware industrial </a:t>
            </a:r>
            <a:r>
              <a:rPr b="0" i="1" lang="en-US" sz="14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PowerGuardian Pro</a:t>
            </a:r>
            <a:r>
              <a:rPr b="0" i="0" lang="en-US" sz="14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16" name="Google Shape;116;p3"/>
          <p:cNvSpPr txBox="1"/>
          <p:nvPr/>
        </p:nvSpPr>
        <p:spPr>
          <a:xfrm>
            <a:off x="571500" y="2252662"/>
            <a:ext cx="5238750" cy="1357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En el sector minero e industrial, la calidad y estabilidad de la energía eléctrica son factores críticos. Las variaciones mínimas de voltaje o la presencia de ruido eléctrico pueden comprometer la continuidad de operaciones que cuestan miles de dólares por hora.</a:t>
            </a:r>
            <a:endParaRPr/>
          </a:p>
        </p:txBody>
      </p:sp>
      <p:sp>
        <p:nvSpPr>
          <p:cNvPr id="117" name="Google Shape;117;p3"/>
          <p:cNvSpPr txBox="1"/>
          <p:nvPr/>
        </p:nvSpPr>
        <p:spPr>
          <a:xfrm>
            <a:off x="571500" y="3833000"/>
            <a:ext cx="5238900" cy="12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Desde la disciplina informática, el desafío técnico radica en </a:t>
            </a:r>
            <a:r>
              <a:rPr b="1" i="0" lang="en-US" sz="14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capturar, procesar y visualizar</a:t>
            </a:r>
            <a:r>
              <a:rPr b="0" i="0" lang="en-US" sz="14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variables eléctricas complejas en tiempo real, operando como una capa de inteligencia sobre la infraestructura física.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2" name="Google Shape;12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305550"/>
            <a:ext cx="1104900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055018"/>
            <a:ext cx="3492549" cy="34432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49799" y="2055018"/>
            <a:ext cx="3492549" cy="34432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28099" y="2055018"/>
            <a:ext cx="3492549" cy="3443287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4"/>
          <p:cNvSpPr txBox="1"/>
          <p:nvPr/>
        </p:nvSpPr>
        <p:spPr>
          <a:xfrm>
            <a:off x="571500" y="501325"/>
            <a:ext cx="111027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2. </a:t>
            </a:r>
            <a:r>
              <a:rPr b="1" i="0" lang="en-US" sz="31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El Problema a Resolver</a:t>
            </a:r>
            <a:endParaRPr/>
          </a:p>
        </p:txBody>
      </p:sp>
      <p:sp>
        <p:nvSpPr>
          <p:cNvPr id="128" name="Google Shape;128;p4"/>
          <p:cNvSpPr/>
          <p:nvPr/>
        </p:nvSpPr>
        <p:spPr>
          <a:xfrm>
            <a:off x="571500" y="110490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 txBox="1"/>
          <p:nvPr/>
        </p:nvSpPr>
        <p:spPr>
          <a:xfrm>
            <a:off x="571500" y="6457950"/>
            <a:ext cx="16002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Power Guardian Pro MVP</a:t>
            </a:r>
            <a:endParaRPr/>
          </a:p>
        </p:txBody>
      </p:sp>
      <p:sp>
        <p:nvSpPr>
          <p:cNvPr id="130" name="Google Shape;130;p4"/>
          <p:cNvSpPr txBox="1"/>
          <p:nvPr/>
        </p:nvSpPr>
        <p:spPr>
          <a:xfrm>
            <a:off x="11449050" y="6457950"/>
            <a:ext cx="1714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04</a:t>
            </a:r>
            <a:endParaRPr/>
          </a:p>
        </p:txBody>
      </p:sp>
      <p:pic>
        <p:nvPicPr>
          <p:cNvPr descr="image.png" id="131" name="Google Shape;131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936700" y="2474118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4"/>
          <p:cNvSpPr txBox="1"/>
          <p:nvPr/>
        </p:nvSpPr>
        <p:spPr>
          <a:xfrm>
            <a:off x="952529" y="3474243"/>
            <a:ext cx="273034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Sanciones Económicas</a:t>
            </a:r>
            <a:endParaRPr/>
          </a:p>
        </p:txBody>
      </p:sp>
      <p:sp>
        <p:nvSpPr>
          <p:cNvPr id="133" name="Google Shape;133;p4"/>
          <p:cNvSpPr txBox="1"/>
          <p:nvPr/>
        </p:nvSpPr>
        <p:spPr>
          <a:xfrm>
            <a:off x="866775" y="3893343"/>
            <a:ext cx="2901999" cy="12144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Las redes industriales operan frecuentemente con un bajo factor de potencia, lo que detona severas multas por parte de las empresas distribuidoras eléctricas.</a:t>
            </a:r>
            <a:endParaRPr/>
          </a:p>
        </p:txBody>
      </p:sp>
      <p:pic>
        <p:nvPicPr>
          <p:cNvPr descr="image.png" id="134" name="Google Shape;134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0" y="2474118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4"/>
          <p:cNvSpPr txBox="1"/>
          <p:nvPr/>
        </p:nvSpPr>
        <p:spPr>
          <a:xfrm>
            <a:off x="4845843" y="3474243"/>
            <a:ext cx="250031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Fallas por Armónicos</a:t>
            </a:r>
            <a:endParaRPr/>
          </a:p>
        </p:txBody>
      </p:sp>
      <p:sp>
        <p:nvSpPr>
          <p:cNvPr id="136" name="Google Shape;136;p4"/>
          <p:cNvSpPr txBox="1"/>
          <p:nvPr/>
        </p:nvSpPr>
        <p:spPr>
          <a:xfrm>
            <a:off x="4645074" y="3893343"/>
            <a:ext cx="2901999" cy="12144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El uso de maquinaria pesada genera distorsión armónica (THD), provocando sobrecalentamiento y el disparo intempestivo de protecciones eléctricas.</a:t>
            </a:r>
            <a:endParaRPr/>
          </a:p>
        </p:txBody>
      </p:sp>
      <p:pic>
        <p:nvPicPr>
          <p:cNvPr descr="image.png" id="137" name="Google Shape;137;p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493299" y="2474118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4"/>
          <p:cNvSpPr txBox="1"/>
          <p:nvPr/>
        </p:nvSpPr>
        <p:spPr>
          <a:xfrm>
            <a:off x="8519130" y="3474243"/>
            <a:ext cx="271033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Carencia de Visibilidad</a:t>
            </a:r>
            <a:endParaRPr/>
          </a:p>
        </p:txBody>
      </p:sp>
      <p:sp>
        <p:nvSpPr>
          <p:cNvPr id="139" name="Google Shape;139;p4"/>
          <p:cNvSpPr txBox="1"/>
          <p:nvPr/>
        </p:nvSpPr>
        <p:spPr>
          <a:xfrm>
            <a:off x="8423374" y="3893343"/>
            <a:ext cx="2901999" cy="12144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Existe una ausencia de plataformas digitales centralizadas que traduzcan los datos eléctricos crudos en información útil para la prevención de fallas.</a:t>
            </a:r>
            <a:endParaRPr/>
          </a:p>
        </p:txBody>
      </p:sp>
      <p:pic>
        <p:nvPicPr>
          <p:cNvPr descr="image.png" id="140" name="Google Shape;140;p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203400" y="2702718"/>
            <a:ext cx="2286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981700" y="2702718"/>
            <a:ext cx="2286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683799" y="2702718"/>
            <a:ext cx="3810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7" name="Google Shape;14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305550"/>
            <a:ext cx="1104900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916906"/>
            <a:ext cx="3492549" cy="37195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49799" y="1916906"/>
            <a:ext cx="3492549" cy="37195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28099" y="1916906"/>
            <a:ext cx="3492549" cy="3719512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5"/>
          <p:cNvSpPr txBox="1"/>
          <p:nvPr/>
        </p:nvSpPr>
        <p:spPr>
          <a:xfrm>
            <a:off x="571500" y="434350"/>
            <a:ext cx="110922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3. </a:t>
            </a:r>
            <a:r>
              <a:rPr b="1" i="0" lang="en-US" sz="31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La Necesidad</a:t>
            </a:r>
            <a:endParaRPr/>
          </a:p>
        </p:txBody>
      </p:sp>
      <p:sp>
        <p:nvSpPr>
          <p:cNvPr id="153" name="Google Shape;153;p5"/>
          <p:cNvSpPr/>
          <p:nvPr/>
        </p:nvSpPr>
        <p:spPr>
          <a:xfrm>
            <a:off x="571500" y="110490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 txBox="1"/>
          <p:nvPr/>
        </p:nvSpPr>
        <p:spPr>
          <a:xfrm>
            <a:off x="571500" y="6457950"/>
            <a:ext cx="16002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Power Guardian Pro MVP</a:t>
            </a:r>
            <a:endParaRPr/>
          </a:p>
        </p:txBody>
      </p:sp>
      <p:sp>
        <p:nvSpPr>
          <p:cNvPr id="155" name="Google Shape;155;p5"/>
          <p:cNvSpPr txBox="1"/>
          <p:nvPr/>
        </p:nvSpPr>
        <p:spPr>
          <a:xfrm>
            <a:off x="11458575" y="6457950"/>
            <a:ext cx="1619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05</a:t>
            </a:r>
            <a:endParaRPr/>
          </a:p>
        </p:txBody>
      </p:sp>
      <p:pic>
        <p:nvPicPr>
          <p:cNvPr descr="image.png" id="156" name="Google Shape;156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936700" y="2336006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5"/>
          <p:cNvSpPr txBox="1"/>
          <p:nvPr/>
        </p:nvSpPr>
        <p:spPr>
          <a:xfrm>
            <a:off x="794225" y="3336131"/>
            <a:ext cx="3047099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Visibilidad en Tiempo Real</a:t>
            </a:r>
            <a:endParaRPr/>
          </a:p>
        </p:txBody>
      </p:sp>
      <p:sp>
        <p:nvSpPr>
          <p:cNvPr id="158" name="Google Shape;158;p5"/>
          <p:cNvSpPr txBox="1"/>
          <p:nvPr/>
        </p:nvSpPr>
        <p:spPr>
          <a:xfrm>
            <a:off x="866775" y="4031456"/>
            <a:ext cx="2901999" cy="12144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 requiere proveer a los operadores de un dashboard intuitivo que muestre el estado de salud de la red (Voltaje, Corriente, THD) de forma inmediata.</a:t>
            </a:r>
            <a:endParaRPr/>
          </a:p>
        </p:txBody>
      </p:sp>
      <p:pic>
        <p:nvPicPr>
          <p:cNvPr descr="image.png" id="159" name="Google Shape;159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0" y="2336006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5"/>
          <p:cNvSpPr txBox="1"/>
          <p:nvPr/>
        </p:nvSpPr>
        <p:spPr>
          <a:xfrm>
            <a:off x="4745831" y="3336131"/>
            <a:ext cx="270033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Alertas Automatizadas</a:t>
            </a:r>
            <a:endParaRPr/>
          </a:p>
        </p:txBody>
      </p:sp>
      <p:sp>
        <p:nvSpPr>
          <p:cNvPr id="161" name="Google Shape;161;p5"/>
          <p:cNvSpPr txBox="1"/>
          <p:nvPr/>
        </p:nvSpPr>
        <p:spPr>
          <a:xfrm>
            <a:off x="4645074" y="3755231"/>
            <a:ext cx="2901999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Es imperativo notificar al personal de mantenimiento ante eventos críticos antes de que estos se traduzcan en detenciones de planta costosas.</a:t>
            </a:r>
            <a:endParaRPr/>
          </a:p>
        </p:txBody>
      </p:sp>
      <p:pic>
        <p:nvPicPr>
          <p:cNvPr descr="image.png" id="162" name="Google Shape;162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493299" y="2336006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5"/>
          <p:cNvSpPr txBox="1"/>
          <p:nvPr/>
        </p:nvSpPr>
        <p:spPr>
          <a:xfrm>
            <a:off x="8350824" y="3336131"/>
            <a:ext cx="3047099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Registro Histórico Confiable</a:t>
            </a:r>
            <a:endParaRPr/>
          </a:p>
        </p:txBody>
      </p:sp>
      <p:sp>
        <p:nvSpPr>
          <p:cNvPr id="164" name="Google Shape;164;p5"/>
          <p:cNvSpPr txBox="1"/>
          <p:nvPr/>
        </p:nvSpPr>
        <p:spPr>
          <a:xfrm>
            <a:off x="8423374" y="4031456"/>
            <a:ext cx="2901999" cy="12144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 necesita almacenar datos estructurados para proyectar tendencias, auditar la calidad de energía a largo plazo y justificar futuras inversiones.</a:t>
            </a:r>
            <a:endParaRPr/>
          </a:p>
        </p:txBody>
      </p:sp>
      <p:pic>
        <p:nvPicPr>
          <p:cNvPr descr="image.png" id="165" name="Google Shape;165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165300" y="2564606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962650" y="2564606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740949" y="2564606"/>
            <a:ext cx="2667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2" name="Google Shape;17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305550"/>
            <a:ext cx="1104900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290762"/>
            <a:ext cx="52387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33670" y="76200"/>
            <a:ext cx="1082129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6"/>
          <p:cNvSpPr txBox="1"/>
          <p:nvPr/>
        </p:nvSpPr>
        <p:spPr>
          <a:xfrm>
            <a:off x="609600" y="485500"/>
            <a:ext cx="108432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4. </a:t>
            </a:r>
            <a:r>
              <a:rPr b="1" i="0" lang="en-US" sz="31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Propuesta de Solución</a:t>
            </a:r>
            <a:endParaRPr/>
          </a:p>
        </p:txBody>
      </p:sp>
      <p:sp>
        <p:nvSpPr>
          <p:cNvPr id="177" name="Google Shape;177;p6"/>
          <p:cNvSpPr/>
          <p:nvPr/>
        </p:nvSpPr>
        <p:spPr>
          <a:xfrm>
            <a:off x="571500" y="110490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 txBox="1"/>
          <p:nvPr/>
        </p:nvSpPr>
        <p:spPr>
          <a:xfrm>
            <a:off x="571500" y="6457950"/>
            <a:ext cx="16002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Power Guardian Pro MVP</a:t>
            </a:r>
            <a:endParaRPr/>
          </a:p>
        </p:txBody>
      </p:sp>
      <p:sp>
        <p:nvSpPr>
          <p:cNvPr id="179" name="Google Shape;179;p6"/>
          <p:cNvSpPr txBox="1"/>
          <p:nvPr/>
        </p:nvSpPr>
        <p:spPr>
          <a:xfrm>
            <a:off x="11449050" y="6457950"/>
            <a:ext cx="1714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06</a:t>
            </a:r>
            <a:endParaRPr/>
          </a:p>
        </p:txBody>
      </p:sp>
      <p:sp>
        <p:nvSpPr>
          <p:cNvPr id="180" name="Google Shape;180;p6"/>
          <p:cNvSpPr txBox="1"/>
          <p:nvPr/>
        </p:nvSpPr>
        <p:spPr>
          <a:xfrm>
            <a:off x="571500" y="1123950"/>
            <a:ext cx="52389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Desarrollar un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Producto Mínimo Viable (MVP) informático funcional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 que opere como el cerebro digital del sistema industrial, </a:t>
            </a:r>
            <a:r>
              <a:rPr lang="en-US" sz="150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independizando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 del hardware físico inicial.</a:t>
            </a:r>
            <a:endParaRPr/>
          </a:p>
        </p:txBody>
      </p:sp>
      <p:pic>
        <p:nvPicPr>
          <p:cNvPr descr="image.png" id="181" name="Google Shape;181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91275" y="2300287"/>
            <a:ext cx="521970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6"/>
          <p:cNvSpPr/>
          <p:nvPr/>
        </p:nvSpPr>
        <p:spPr>
          <a:xfrm>
            <a:off x="571500" y="2838450"/>
            <a:ext cx="5238750" cy="1285875"/>
          </a:xfrm>
          <a:prstGeom prst="roundRect">
            <a:avLst>
              <a:gd fmla="val 5925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 txBox="1"/>
          <p:nvPr/>
        </p:nvSpPr>
        <p:spPr>
          <a:xfrm>
            <a:off x="1000125" y="2690800"/>
            <a:ext cx="46197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Motor de Simulación: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Un script que emulará el comportamiento de una red eléctrica real (condiciones normales y de falla).</a:t>
            </a:r>
            <a:endParaRPr/>
          </a:p>
        </p:txBody>
      </p:sp>
      <p:sp>
        <p:nvSpPr>
          <p:cNvPr id="184" name="Google Shape;184;p6"/>
          <p:cNvSpPr/>
          <p:nvPr/>
        </p:nvSpPr>
        <p:spPr>
          <a:xfrm>
            <a:off x="571500" y="2547500"/>
            <a:ext cx="38100" cy="12858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571500" y="3921913"/>
            <a:ext cx="5238900" cy="1285800"/>
          </a:xfrm>
          <a:prstGeom prst="roundRect">
            <a:avLst>
              <a:gd fmla="val 5925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 txBox="1"/>
          <p:nvPr/>
        </p:nvSpPr>
        <p:spPr>
          <a:xfrm>
            <a:off x="1000125" y="4328625"/>
            <a:ext cx="46197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Backend y API REST: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Arquitectura para la ingesta constante de datos y el procesamiento de la lógica de evaluación.</a:t>
            </a:r>
            <a:endParaRPr/>
          </a:p>
        </p:txBody>
      </p:sp>
      <p:sp>
        <p:nvSpPr>
          <p:cNvPr id="187" name="Google Shape;187;p6"/>
          <p:cNvSpPr/>
          <p:nvPr/>
        </p:nvSpPr>
        <p:spPr>
          <a:xfrm>
            <a:off x="571500" y="4124325"/>
            <a:ext cx="38100" cy="12858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571500" y="5561650"/>
            <a:ext cx="5238900" cy="1285800"/>
          </a:xfrm>
          <a:prstGeom prst="roundRect">
            <a:avLst>
              <a:gd fmla="val 5925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 txBox="1"/>
          <p:nvPr/>
        </p:nvSpPr>
        <p:spPr>
          <a:xfrm>
            <a:off x="1000113" y="5930350"/>
            <a:ext cx="46197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Dashboard Web: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Interfaz gráfica interactiva para la visualización de métricas y control operativo.</a:t>
            </a:r>
            <a:endParaRPr/>
          </a:p>
        </p:txBody>
      </p:sp>
      <p:sp>
        <p:nvSpPr>
          <p:cNvPr id="190" name="Google Shape;190;p6"/>
          <p:cNvSpPr/>
          <p:nvPr/>
        </p:nvSpPr>
        <p:spPr>
          <a:xfrm>
            <a:off x="571500" y="5548300"/>
            <a:ext cx="38100" cy="12858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1" name="Google Shape;191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52475" y="30432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52475" y="46672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38188" y="6104550"/>
            <a:ext cx="21907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8" name="Google Shape;19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305550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7"/>
          <p:cNvSpPr txBox="1"/>
          <p:nvPr/>
        </p:nvSpPr>
        <p:spPr>
          <a:xfrm>
            <a:off x="581100" y="413575"/>
            <a:ext cx="110298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5. </a:t>
            </a:r>
            <a:r>
              <a:rPr b="1" i="0" lang="en-US" sz="31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Requ</a:t>
            </a:r>
            <a:r>
              <a:rPr b="1" lang="en-US" sz="31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erimientos</a:t>
            </a:r>
            <a:r>
              <a:rPr b="1" i="0" lang="en-US" sz="31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n-US" sz="31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Funcionales</a:t>
            </a:r>
            <a:endParaRPr b="1" sz="315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15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571500" y="110490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 txBox="1"/>
          <p:nvPr/>
        </p:nvSpPr>
        <p:spPr>
          <a:xfrm>
            <a:off x="571500" y="6457950"/>
            <a:ext cx="16002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Power Guardian Pro MVP</a:t>
            </a:r>
            <a:endParaRPr/>
          </a:p>
        </p:txBody>
      </p:sp>
      <p:sp>
        <p:nvSpPr>
          <p:cNvPr id="203" name="Google Shape;203;p7"/>
          <p:cNvSpPr txBox="1"/>
          <p:nvPr/>
        </p:nvSpPr>
        <p:spPr>
          <a:xfrm>
            <a:off x="11458575" y="6457950"/>
            <a:ext cx="1619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07</a:t>
            </a:r>
            <a:endParaRPr/>
          </a:p>
        </p:txBody>
      </p:sp>
      <p:graphicFrame>
        <p:nvGraphicFramePr>
          <p:cNvPr id="204" name="Google Shape;204;p7"/>
          <p:cNvGraphicFramePr/>
          <p:nvPr/>
        </p:nvGraphicFramePr>
        <p:xfrm>
          <a:off x="1183600" y="1604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{008E38C6-CE2C-4549-B393-4DCFF8A25CB4}</a:tableStyleId>
              </a:tblPr>
              <a:tblGrid>
                <a:gridCol w="782650"/>
                <a:gridCol w="2325400"/>
                <a:gridCol w="6716750"/>
              </a:tblGrid>
              <a:tr h="329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ID</a:t>
                      </a:r>
                      <a:endParaRPr b="1"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4A7DB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Título</a:t>
                      </a:r>
                      <a:endParaRPr b="1"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4A7DB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Requeriemiento funcional</a:t>
                      </a:r>
                      <a:endParaRPr b="1"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4A7DBA"/>
                    </a:solidFill>
                  </a:tcPr>
                </a:tc>
              </a:tr>
              <a:tr h="531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/>
                        <a:t>RF-01</a:t>
                      </a:r>
                      <a:endParaRPr b="1" sz="1500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/>
                        <a:t>Adquisición de datos</a:t>
                      </a:r>
                      <a:endParaRPr b="1" sz="1500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El sistema debe recibir información eléctrica proveniente del tablero o dispositivo de medición.</a:t>
                      </a:r>
                      <a:endParaRPr sz="1500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</a:tr>
              <a:tr h="464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/>
                        <a:t>RF-02</a:t>
                      </a:r>
                      <a:endParaRPr b="1" sz="1500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/>
                        <a:t>Monitoreo de parámetros eléctricos</a:t>
                      </a:r>
                      <a:endParaRPr b="1" sz="1500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El sistema debe monitorear los principales parámetros eléctricos de un sistema trifásico.</a:t>
                      </a:r>
                      <a:endParaRPr sz="1500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</a:tr>
              <a:tr h="464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/>
                        <a:t>RF-03</a:t>
                      </a:r>
                      <a:endParaRPr b="1" sz="1500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/>
                        <a:t>Configuración de parámetros</a:t>
                      </a:r>
                      <a:endParaRPr b="1" sz="1500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El sistema debe permitir configurar los parámetros de entrada utilizados para la adquisición de datos.</a:t>
                      </a:r>
                      <a:endParaRPr sz="1500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</a:tr>
              <a:tr h="531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/>
                        <a:t>RF-04</a:t>
                      </a:r>
                      <a:endParaRPr b="1" sz="1500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/>
                        <a:t>Panel de monitoreo</a:t>
                      </a:r>
                      <a:endParaRPr b="1" sz="1500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El sistema debe presentar la información mediante una interfaz gráfica que facilite su interpretación.</a:t>
                      </a:r>
                      <a:endParaRPr sz="1500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</a:tr>
              <a:tr h="531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/>
                        <a:t>RF-05</a:t>
                      </a:r>
                      <a:endParaRPr b="1" sz="1500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/>
                        <a:t>Detección de anomalías</a:t>
                      </a:r>
                      <a:endParaRPr b="1" sz="1500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El sistema debe detectar valores anómalos o desbalances en los parámetros eléctricos monitoreados.</a:t>
                      </a:r>
                      <a:endParaRPr sz="1500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9" name="Google Shape;209;g3f8548adf50_0_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g3f8548adf50_0_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305550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g3f8548adf50_0_60"/>
          <p:cNvSpPr/>
          <p:nvPr/>
        </p:nvSpPr>
        <p:spPr>
          <a:xfrm>
            <a:off x="571500" y="1104900"/>
            <a:ext cx="11049000" cy="19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g3f8548adf50_0_60"/>
          <p:cNvSpPr txBox="1"/>
          <p:nvPr/>
        </p:nvSpPr>
        <p:spPr>
          <a:xfrm>
            <a:off x="571500" y="6457950"/>
            <a:ext cx="1600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Power Guardian Pro MVP</a:t>
            </a:r>
            <a:endParaRPr/>
          </a:p>
        </p:txBody>
      </p:sp>
      <p:sp>
        <p:nvSpPr>
          <p:cNvPr id="213" name="Google Shape;213;g3f8548adf50_0_60"/>
          <p:cNvSpPr txBox="1"/>
          <p:nvPr/>
        </p:nvSpPr>
        <p:spPr>
          <a:xfrm>
            <a:off x="11458575" y="6457950"/>
            <a:ext cx="162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07</a:t>
            </a:r>
            <a:endParaRPr/>
          </a:p>
        </p:txBody>
      </p:sp>
      <p:graphicFrame>
        <p:nvGraphicFramePr>
          <p:cNvPr id="214" name="Google Shape;214;g3f8548adf50_0_60"/>
          <p:cNvGraphicFramePr/>
          <p:nvPr/>
        </p:nvGraphicFramePr>
        <p:xfrm>
          <a:off x="1183600" y="1604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{008E38C6-CE2C-4549-B393-4DCFF8A25CB4}</a:tableStyleId>
              </a:tblPr>
              <a:tblGrid>
                <a:gridCol w="807725"/>
                <a:gridCol w="2300325"/>
                <a:gridCol w="6716750"/>
              </a:tblGrid>
              <a:tr h="329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ID</a:t>
                      </a:r>
                      <a:endParaRPr b="1"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4A7DB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Título</a:t>
                      </a:r>
                      <a:endParaRPr b="1"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4A7DB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chemeClr val="lt1"/>
                          </a:solidFill>
                        </a:rPr>
                        <a:t>Requerimiento funcional</a:t>
                      </a:r>
                      <a:endParaRPr b="1"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4A7DBA"/>
                    </a:solidFill>
                  </a:tcPr>
                </a:tc>
              </a:tr>
              <a:tr h="464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/>
                        <a:t>RF-06</a:t>
                      </a:r>
                      <a:endParaRPr b="1" sz="1500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/>
                        <a:t>Identificación de condiciones críticas</a:t>
                      </a:r>
                      <a:endParaRPr b="1" sz="1500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El sistema debe identificar condiciones o errores críticos en el tablero eléctrico.</a:t>
                      </a:r>
                      <a:endParaRPr sz="1500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</a:tr>
              <a:tr h="464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/>
                        <a:t>RF-07</a:t>
                      </a:r>
                      <a:endParaRPr b="1" sz="1500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/>
                        <a:t>Sistema de notificaciones</a:t>
                      </a:r>
                      <a:endParaRPr b="1" sz="1500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El sistema debe generar notificaciones cuando se detecte una condición crítica.</a:t>
                      </a:r>
                      <a:endParaRPr sz="1500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</a:tr>
              <a:tr h="531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/>
                        <a:t>RF-08</a:t>
                      </a:r>
                      <a:endParaRPr b="1" sz="1500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/>
                        <a:t>Detalle de incidencias</a:t>
                      </a:r>
                      <a:endParaRPr b="1" sz="1500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El sistema debe informar los detalles relevantes asociados a la condición crítica detectada.</a:t>
                      </a:r>
                      <a:endParaRPr sz="1500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</a:tr>
              <a:tr h="531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/>
                        <a:t>RF-09</a:t>
                      </a:r>
                      <a:endParaRPr b="1" sz="1500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/>
                        <a:t>Historial de incidencias</a:t>
                      </a:r>
                      <a:endParaRPr b="1" sz="1500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El sistema debe registrar y permitir consultar el historial de incidencias o alertas detectadas.</a:t>
                      </a:r>
                      <a:endParaRPr sz="1500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</a:tr>
              <a:tr h="531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/>
                        <a:t>RF-10</a:t>
                      </a:r>
                      <a:endParaRPr b="1" sz="1500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/>
                        <a:t>Monitoreo de conectividad</a:t>
                      </a:r>
                      <a:endParaRPr b="1" sz="1500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El sistema debe detectar e informar la pérdida de comunicación con el dispositivo de medición.</a:t>
                      </a:r>
                      <a:endParaRPr sz="1500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</a:tr>
            </a:tbl>
          </a:graphicData>
        </a:graphic>
      </p:graphicFrame>
      <p:sp>
        <p:nvSpPr>
          <p:cNvPr id="215" name="Google Shape;215;g3f8548adf50_0_60"/>
          <p:cNvSpPr txBox="1"/>
          <p:nvPr/>
        </p:nvSpPr>
        <p:spPr>
          <a:xfrm>
            <a:off x="581100" y="413575"/>
            <a:ext cx="110298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5. </a:t>
            </a:r>
            <a:r>
              <a:rPr b="1" i="0" lang="en-US" sz="31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Requ</a:t>
            </a:r>
            <a:r>
              <a:rPr b="1" lang="en-US" sz="31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erimientos</a:t>
            </a:r>
            <a:r>
              <a:rPr b="1" i="0" lang="en-US" sz="31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n-US" sz="31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Funcionales</a:t>
            </a:r>
            <a:endParaRPr b="1" sz="315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15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0" name="Google Shape;220;g3f8548adf50_0_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g3f8548adf50_0_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305550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g3f8548adf50_0_71"/>
          <p:cNvSpPr/>
          <p:nvPr/>
        </p:nvSpPr>
        <p:spPr>
          <a:xfrm>
            <a:off x="571500" y="1104900"/>
            <a:ext cx="11049000" cy="19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g3f8548adf50_0_71"/>
          <p:cNvSpPr txBox="1"/>
          <p:nvPr/>
        </p:nvSpPr>
        <p:spPr>
          <a:xfrm>
            <a:off x="571500" y="6457950"/>
            <a:ext cx="1600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Power Guardian Pro MVP</a:t>
            </a:r>
            <a:endParaRPr/>
          </a:p>
        </p:txBody>
      </p:sp>
      <p:sp>
        <p:nvSpPr>
          <p:cNvPr id="224" name="Google Shape;224;g3f8548adf50_0_71"/>
          <p:cNvSpPr txBox="1"/>
          <p:nvPr/>
        </p:nvSpPr>
        <p:spPr>
          <a:xfrm>
            <a:off x="11458575" y="6457950"/>
            <a:ext cx="162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07</a:t>
            </a:r>
            <a:endParaRPr/>
          </a:p>
        </p:txBody>
      </p:sp>
      <p:graphicFrame>
        <p:nvGraphicFramePr>
          <p:cNvPr id="225" name="Google Shape;225;g3f8548adf50_0_71"/>
          <p:cNvGraphicFramePr/>
          <p:nvPr/>
        </p:nvGraphicFramePr>
        <p:xfrm>
          <a:off x="1488145" y="12447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{008E38C6-CE2C-4549-B393-4DCFF8A25CB4}</a:tableStyleId>
              </a:tblPr>
              <a:tblGrid>
                <a:gridCol w="848725"/>
                <a:gridCol w="2796100"/>
                <a:gridCol w="5595950"/>
              </a:tblGrid>
              <a:tr h="6291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ID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4A7DB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Título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4A7DB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Requerimiento no funcional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4A7DBA"/>
                    </a:solidFill>
                  </a:tcPr>
                </a:tc>
              </a:tr>
              <a:tr h="573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RNF-01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Rendimiento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El sistema debe actualizar los datos oportunamente.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</a:tr>
              <a:tr h="573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RNF-02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Tiempo de notificación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Las alertas críticas deben generarse oportunamente.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</a:tr>
              <a:tr h="573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RNF-03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Confiabilidad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El sistema debe garantizar la integridad de los datos.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</a:tr>
              <a:tr h="573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RNF-04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Disponibilidad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El sistema debe estar disponible para realizar el monitoreo.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</a:tr>
              <a:tr h="573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RNF-05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Seguridad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El sistema debe proteger el acceso a la información.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</a:tr>
              <a:tr h="573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RNF-06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Usabilidad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La información y las alertas deben ser claras para el usuario.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</a:tr>
              <a:tr h="573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RNF-07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Mantenibilidad y escalabilidad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El sistema debe facilitar su mantenimiento y crecimiento futuro.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</a:tr>
            </a:tbl>
          </a:graphicData>
        </a:graphic>
      </p:graphicFrame>
      <p:sp>
        <p:nvSpPr>
          <p:cNvPr id="226" name="Google Shape;226;g3f8548adf50_0_71"/>
          <p:cNvSpPr txBox="1"/>
          <p:nvPr/>
        </p:nvSpPr>
        <p:spPr>
          <a:xfrm>
            <a:off x="581100" y="413575"/>
            <a:ext cx="110298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5. </a:t>
            </a:r>
            <a:r>
              <a:rPr b="1" i="0" lang="en-US" sz="31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Requ</a:t>
            </a:r>
            <a:r>
              <a:rPr b="1" lang="en-US" sz="31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erimientos</a:t>
            </a:r>
            <a:r>
              <a:rPr b="1" i="0" lang="en-US" sz="31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No</a:t>
            </a:r>
            <a:r>
              <a:rPr b="1" lang="en-US" sz="31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Funcionales</a:t>
            </a:r>
            <a:endParaRPr b="1" sz="315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15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1" name="Google Shape;23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305550"/>
            <a:ext cx="1104900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0224" y="1912025"/>
            <a:ext cx="3457735" cy="1748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8940" y="1912025"/>
            <a:ext cx="3457735" cy="1748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0224" y="3921433"/>
            <a:ext cx="3457735" cy="1748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8940" y="3921433"/>
            <a:ext cx="3457735" cy="174844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8"/>
          <p:cNvSpPr/>
          <p:nvPr/>
        </p:nvSpPr>
        <p:spPr>
          <a:xfrm>
            <a:off x="571500" y="110490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 txBox="1"/>
          <p:nvPr/>
        </p:nvSpPr>
        <p:spPr>
          <a:xfrm>
            <a:off x="571500" y="6457950"/>
            <a:ext cx="16002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Power Guardian Pro MVP</a:t>
            </a:r>
            <a:endParaRPr/>
          </a:p>
        </p:txBody>
      </p:sp>
      <p:sp>
        <p:nvSpPr>
          <p:cNvPr id="239" name="Google Shape;239;p8"/>
          <p:cNvSpPr txBox="1"/>
          <p:nvPr/>
        </p:nvSpPr>
        <p:spPr>
          <a:xfrm>
            <a:off x="11449050" y="6457950"/>
            <a:ext cx="1714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08</a:t>
            </a:r>
            <a:endParaRPr/>
          </a:p>
        </p:txBody>
      </p:sp>
      <p:sp>
        <p:nvSpPr>
          <p:cNvPr id="240" name="Google Shape;240;p8"/>
          <p:cNvSpPr txBox="1"/>
          <p:nvPr/>
        </p:nvSpPr>
        <p:spPr>
          <a:xfrm>
            <a:off x="904276" y="2225175"/>
            <a:ext cx="2909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1. </a:t>
            </a:r>
            <a:r>
              <a:rPr b="1" lang="en-US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Adquisición de datos eléctricos</a:t>
            </a:r>
            <a:endParaRPr/>
          </a:p>
        </p:txBody>
      </p:sp>
      <p:sp>
        <p:nvSpPr>
          <p:cNvPr id="241" name="Google Shape;241;p8"/>
          <p:cNvSpPr txBox="1"/>
          <p:nvPr/>
        </p:nvSpPr>
        <p:spPr>
          <a:xfrm>
            <a:off x="904235" y="2564430"/>
            <a:ext cx="2909700" cy="8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38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Obtención de información desde el tablero o dispositivo de medición.</a:t>
            </a:r>
            <a:endParaRPr sz="1918"/>
          </a:p>
        </p:txBody>
      </p:sp>
      <p:sp>
        <p:nvSpPr>
          <p:cNvPr id="242" name="Google Shape;242;p8"/>
          <p:cNvSpPr txBox="1"/>
          <p:nvPr/>
        </p:nvSpPr>
        <p:spPr>
          <a:xfrm>
            <a:off x="4622948" y="2225175"/>
            <a:ext cx="2860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2. </a:t>
            </a:r>
            <a:r>
              <a:rPr b="1" lang="en-US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Monitoreo y visualización</a:t>
            </a:r>
            <a:endParaRPr/>
          </a:p>
        </p:txBody>
      </p:sp>
      <p:sp>
        <p:nvSpPr>
          <p:cNvPr id="243" name="Google Shape;243;p8"/>
          <p:cNvSpPr txBox="1"/>
          <p:nvPr/>
        </p:nvSpPr>
        <p:spPr>
          <a:xfrm>
            <a:off x="4622950" y="2564430"/>
            <a:ext cx="2909700" cy="8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38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Visualización de parámetros eléctricos y del estado del sistema en tiempo real.</a:t>
            </a:r>
            <a:endParaRPr sz="1918"/>
          </a:p>
        </p:txBody>
      </p:sp>
      <p:sp>
        <p:nvSpPr>
          <p:cNvPr id="244" name="Google Shape;244;p8"/>
          <p:cNvSpPr txBox="1"/>
          <p:nvPr/>
        </p:nvSpPr>
        <p:spPr>
          <a:xfrm>
            <a:off x="904400" y="4234575"/>
            <a:ext cx="2909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r>
              <a:rPr b="1" i="0" lang="en-US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r>
              <a:rPr b="1" lang="en-US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Alertas</a:t>
            </a:r>
            <a:endParaRPr/>
          </a:p>
        </p:txBody>
      </p:sp>
      <p:sp>
        <p:nvSpPr>
          <p:cNvPr id="245" name="Google Shape;245;p8"/>
          <p:cNvSpPr txBox="1"/>
          <p:nvPr/>
        </p:nvSpPr>
        <p:spPr>
          <a:xfrm>
            <a:off x="904235" y="4573838"/>
            <a:ext cx="2909700" cy="8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38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Generación y visualización de notificaciones ante condiciones críticas.</a:t>
            </a:r>
            <a:endParaRPr sz="1918"/>
          </a:p>
        </p:txBody>
      </p:sp>
      <p:sp>
        <p:nvSpPr>
          <p:cNvPr id="246" name="Google Shape;246;p8"/>
          <p:cNvSpPr txBox="1"/>
          <p:nvPr/>
        </p:nvSpPr>
        <p:spPr>
          <a:xfrm>
            <a:off x="4622948" y="4234575"/>
            <a:ext cx="2909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r>
              <a:rPr b="1" i="0" lang="en-US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r>
              <a:rPr b="1" lang="en-US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Historial de Incidencias</a:t>
            </a:r>
            <a:endParaRPr/>
          </a:p>
        </p:txBody>
      </p:sp>
      <p:sp>
        <p:nvSpPr>
          <p:cNvPr id="247" name="Google Shape;247;p8"/>
          <p:cNvSpPr txBox="1"/>
          <p:nvPr/>
        </p:nvSpPr>
        <p:spPr>
          <a:xfrm>
            <a:off x="4622950" y="4573838"/>
            <a:ext cx="2909700" cy="5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38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Registro y consulta de alertas e incidencias detectadas.</a:t>
            </a:r>
            <a:endParaRPr sz="1918"/>
          </a:p>
        </p:txBody>
      </p:sp>
      <p:sp>
        <p:nvSpPr>
          <p:cNvPr id="248" name="Google Shape;248;p8"/>
          <p:cNvSpPr txBox="1"/>
          <p:nvPr/>
        </p:nvSpPr>
        <p:spPr>
          <a:xfrm>
            <a:off x="571500" y="488800"/>
            <a:ext cx="109677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6. Épicas</a:t>
            </a:r>
            <a:endParaRPr/>
          </a:p>
        </p:txBody>
      </p:sp>
      <p:pic>
        <p:nvPicPr>
          <p:cNvPr descr="image.png" id="249" name="Google Shape;249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41666" y="1912025"/>
            <a:ext cx="3457735" cy="1748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41666" y="3921433"/>
            <a:ext cx="3457735" cy="174844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8"/>
          <p:cNvSpPr txBox="1"/>
          <p:nvPr/>
        </p:nvSpPr>
        <p:spPr>
          <a:xfrm>
            <a:off x="8615673" y="2225175"/>
            <a:ext cx="2833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r>
              <a:rPr b="1" i="0" lang="en-US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r>
              <a:rPr b="1" lang="en-US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Anomalías</a:t>
            </a:r>
            <a:endParaRPr/>
          </a:p>
        </p:txBody>
      </p:sp>
      <p:sp>
        <p:nvSpPr>
          <p:cNvPr id="252" name="Google Shape;252;p8"/>
          <p:cNvSpPr txBox="1"/>
          <p:nvPr/>
        </p:nvSpPr>
        <p:spPr>
          <a:xfrm>
            <a:off x="8615677" y="2564430"/>
            <a:ext cx="2909700" cy="8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38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Identificación de valores anómalos, desbalances y condiciones críticas.</a:t>
            </a:r>
            <a:endParaRPr sz="1918"/>
          </a:p>
        </p:txBody>
      </p:sp>
      <p:sp>
        <p:nvSpPr>
          <p:cNvPr id="253" name="Google Shape;253;p8"/>
          <p:cNvSpPr txBox="1"/>
          <p:nvPr/>
        </p:nvSpPr>
        <p:spPr>
          <a:xfrm>
            <a:off x="8615673" y="4234575"/>
            <a:ext cx="3004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6.</a:t>
            </a:r>
            <a:r>
              <a:rPr b="1" i="0" lang="en-US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n-US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Monitoreo de conectividad</a:t>
            </a:r>
            <a:endParaRPr/>
          </a:p>
        </p:txBody>
      </p:sp>
      <p:sp>
        <p:nvSpPr>
          <p:cNvPr id="254" name="Google Shape;254;p8"/>
          <p:cNvSpPr txBox="1"/>
          <p:nvPr/>
        </p:nvSpPr>
        <p:spPr>
          <a:xfrm>
            <a:off x="8615677" y="4573838"/>
            <a:ext cx="2909700" cy="5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38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Supervisión de la comunicación con el dispositivo de medición.</a:t>
            </a:r>
            <a:endParaRPr sz="1918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9" name="Google Shape;25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305550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12"/>
          <p:cNvSpPr txBox="1"/>
          <p:nvPr/>
        </p:nvSpPr>
        <p:spPr>
          <a:xfrm>
            <a:off x="571500" y="526375"/>
            <a:ext cx="11049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7. Historias de usuario</a:t>
            </a:r>
            <a:endParaRPr/>
          </a:p>
        </p:txBody>
      </p:sp>
      <p:sp>
        <p:nvSpPr>
          <p:cNvPr id="262" name="Google Shape;262;p12"/>
          <p:cNvSpPr/>
          <p:nvPr/>
        </p:nvSpPr>
        <p:spPr>
          <a:xfrm>
            <a:off x="571500" y="110490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2"/>
          <p:cNvSpPr txBox="1"/>
          <p:nvPr/>
        </p:nvSpPr>
        <p:spPr>
          <a:xfrm>
            <a:off x="571500" y="6457950"/>
            <a:ext cx="2667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Confidencial - Uso Académico Capstone</a:t>
            </a:r>
            <a:endParaRPr/>
          </a:p>
        </p:txBody>
      </p:sp>
      <p:sp>
        <p:nvSpPr>
          <p:cNvPr id="264" name="Google Shape;264;p12"/>
          <p:cNvSpPr txBox="1"/>
          <p:nvPr/>
        </p:nvSpPr>
        <p:spPr>
          <a:xfrm>
            <a:off x="11477625" y="6457950"/>
            <a:ext cx="1428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12</a:t>
            </a:r>
            <a:endParaRPr/>
          </a:p>
        </p:txBody>
      </p:sp>
      <p:sp>
        <p:nvSpPr>
          <p:cNvPr id="265" name="Google Shape;265;p12"/>
          <p:cNvSpPr/>
          <p:nvPr/>
        </p:nvSpPr>
        <p:spPr>
          <a:xfrm>
            <a:off x="571500" y="1553200"/>
            <a:ext cx="11049000" cy="1112100"/>
          </a:xfrm>
          <a:prstGeom prst="roundRect">
            <a:avLst>
              <a:gd fmla="val 4892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Operador: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Quiero visualizar el estado actual del panel eléctrico y sus condiciones a través de gráficos para identificar variaciones o comportamientos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anómalos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 recibir notificaciones si esto ocurre.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2"/>
          <p:cNvSpPr/>
          <p:nvPr/>
        </p:nvSpPr>
        <p:spPr>
          <a:xfrm>
            <a:off x="571500" y="1553200"/>
            <a:ext cx="38100" cy="1112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2"/>
          <p:cNvSpPr/>
          <p:nvPr/>
        </p:nvSpPr>
        <p:spPr>
          <a:xfrm>
            <a:off x="571500" y="2870700"/>
            <a:ext cx="11049000" cy="1112100"/>
          </a:xfrm>
          <a:prstGeom prst="roundRect">
            <a:avLst>
              <a:gd fmla="val 4892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Tecnico: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Quiero consultar el historial de mediciones para analizar comportamientos, identificar condiciones y disponer de información clara para detectar qué ocasionó las anomalías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2"/>
          <p:cNvSpPr/>
          <p:nvPr/>
        </p:nvSpPr>
        <p:spPr>
          <a:xfrm>
            <a:off x="571500" y="2870700"/>
            <a:ext cx="38100" cy="1112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2"/>
          <p:cNvSpPr/>
          <p:nvPr/>
        </p:nvSpPr>
        <p:spPr>
          <a:xfrm>
            <a:off x="571500" y="4192710"/>
            <a:ext cx="11049000" cy="1112100"/>
          </a:xfrm>
          <a:prstGeom prst="roundRect">
            <a:avLst>
              <a:gd fmla="val 4892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Administrador del sistema: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Quiero configurar los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parámetros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entrada de datos, verificar la ingesta y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visualizar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estado de los componentes para corroborar el correcto funcionamiento del software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2"/>
          <p:cNvSpPr/>
          <p:nvPr/>
        </p:nvSpPr>
        <p:spPr>
          <a:xfrm>
            <a:off x="571500" y="4192710"/>
            <a:ext cx="38100" cy="1112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5" name="Google Shape;275;g3f8548adf50_0_1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6" name="Google Shape;276;g3f8548adf50_0_1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305550"/>
            <a:ext cx="1104900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7" name="Google Shape;277;g3f8548adf50_0_1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778918"/>
            <a:ext cx="2524125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g3f8548adf50_0_1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86125" y="2778918"/>
            <a:ext cx="2524125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9" name="Google Shape;279;g3f8548adf50_0_1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245768"/>
            <a:ext cx="2524125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g3f8548adf50_0_1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86125" y="4245768"/>
            <a:ext cx="2524125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1" name="Google Shape;281;g3f8548adf50_0_1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12537" y="76200"/>
            <a:ext cx="1103262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g3f8548adf50_0_126"/>
          <p:cNvSpPr txBox="1"/>
          <p:nvPr/>
        </p:nvSpPr>
        <p:spPr>
          <a:xfrm>
            <a:off x="612150" y="494775"/>
            <a:ext cx="109677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8. </a:t>
            </a:r>
            <a:r>
              <a:rPr b="1" i="0" lang="en-US" sz="31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Arquitectura del Sistema</a:t>
            </a:r>
            <a:endParaRPr/>
          </a:p>
        </p:txBody>
      </p:sp>
      <p:sp>
        <p:nvSpPr>
          <p:cNvPr id="283" name="Google Shape;283;g3f8548adf50_0_126"/>
          <p:cNvSpPr/>
          <p:nvPr/>
        </p:nvSpPr>
        <p:spPr>
          <a:xfrm>
            <a:off x="571500" y="1104900"/>
            <a:ext cx="11049000" cy="19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g3f8548adf50_0_126"/>
          <p:cNvSpPr txBox="1"/>
          <p:nvPr/>
        </p:nvSpPr>
        <p:spPr>
          <a:xfrm>
            <a:off x="571500" y="6457950"/>
            <a:ext cx="1600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Power Guardian Pro MVP</a:t>
            </a:r>
            <a:endParaRPr/>
          </a:p>
        </p:txBody>
      </p:sp>
      <p:sp>
        <p:nvSpPr>
          <p:cNvPr id="285" name="Google Shape;285;g3f8548adf50_0_126"/>
          <p:cNvSpPr txBox="1"/>
          <p:nvPr/>
        </p:nvSpPr>
        <p:spPr>
          <a:xfrm>
            <a:off x="11449050" y="6457950"/>
            <a:ext cx="171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08</a:t>
            </a:r>
            <a:endParaRPr/>
          </a:p>
        </p:txBody>
      </p:sp>
      <p:sp>
        <p:nvSpPr>
          <p:cNvPr id="286" name="Google Shape;286;g3f8548adf50_0_126"/>
          <p:cNvSpPr txBox="1"/>
          <p:nvPr/>
        </p:nvSpPr>
        <p:spPr>
          <a:xfrm>
            <a:off x="571500" y="1678781"/>
            <a:ext cx="52389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El diseño arquitectónico asegura una separación clara de responsabilidades, facilitando una futura integración con hardware IoT industrial real:</a:t>
            </a:r>
            <a:endParaRPr/>
          </a:p>
        </p:txBody>
      </p:sp>
      <p:pic>
        <p:nvPicPr>
          <p:cNvPr descr="image.png" id="287" name="Google Shape;287;g3f8548adf50_0_1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1750" y="1457325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g3f8548adf50_0_126"/>
          <p:cNvSpPr txBox="1"/>
          <p:nvPr/>
        </p:nvSpPr>
        <p:spPr>
          <a:xfrm>
            <a:off x="1423511" y="3007518"/>
            <a:ext cx="820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1. Ingesta</a:t>
            </a:r>
            <a:endParaRPr/>
          </a:p>
        </p:txBody>
      </p:sp>
      <p:sp>
        <p:nvSpPr>
          <p:cNvPr id="289" name="Google Shape;289;g3f8548adf50_0_126"/>
          <p:cNvSpPr txBox="1"/>
          <p:nvPr/>
        </p:nvSpPr>
        <p:spPr>
          <a:xfrm>
            <a:off x="571500" y="3286150"/>
            <a:ext cx="27096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Recepción y validación est</a:t>
            </a:r>
            <a:r>
              <a:rPr lang="en-US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r>
              <a:rPr lang="en-US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icta de mediciones utilizando Pyth</a:t>
            </a:r>
            <a:r>
              <a:rPr lang="en-US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</a:t>
            </a:r>
            <a:r>
              <a:rPr lang="en-US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 y Pydantic, asegurando el cumplimiento de reglas de ingeniería antes de su persistencia. </a:t>
            </a:r>
            <a:endParaRPr sz="10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0" name="Google Shape;290;g3f8548adf50_0_126"/>
          <p:cNvSpPr txBox="1"/>
          <p:nvPr/>
        </p:nvSpPr>
        <p:spPr>
          <a:xfrm>
            <a:off x="4033123" y="3007518"/>
            <a:ext cx="1030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2. Servicios</a:t>
            </a:r>
            <a:endParaRPr/>
          </a:p>
        </p:txBody>
      </p:sp>
      <p:sp>
        <p:nvSpPr>
          <p:cNvPr id="291" name="Google Shape;291;g3f8548adf50_0_126"/>
          <p:cNvSpPr txBox="1"/>
          <p:nvPr/>
        </p:nvSpPr>
        <p:spPr>
          <a:xfrm>
            <a:off x="3338750" y="3286150"/>
            <a:ext cx="26469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475569"/>
                </a:solidFill>
              </a:rPr>
              <a:t>API robusta construida con FastAPI para la gestión de peticiones, integrada con WebSockets (Socket.IO) para la transmisión de datos y reconexión en tiempo real. </a:t>
            </a:r>
            <a:endParaRPr sz="1050">
              <a:solidFill>
                <a:srgbClr val="475569"/>
              </a:solidFill>
            </a:endParaRPr>
          </a:p>
        </p:txBody>
      </p:sp>
      <p:sp>
        <p:nvSpPr>
          <p:cNvPr id="292" name="Google Shape;292;g3f8548adf50_0_126"/>
          <p:cNvSpPr txBox="1"/>
          <p:nvPr/>
        </p:nvSpPr>
        <p:spPr>
          <a:xfrm>
            <a:off x="1473517" y="4474368"/>
            <a:ext cx="720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3. Datos</a:t>
            </a:r>
            <a:endParaRPr/>
          </a:p>
        </p:txBody>
      </p:sp>
      <p:sp>
        <p:nvSpPr>
          <p:cNvPr id="293" name="Google Shape;293;g3f8548adf50_0_126"/>
          <p:cNvSpPr txBox="1"/>
          <p:nvPr/>
        </p:nvSpPr>
        <p:spPr>
          <a:xfrm>
            <a:off x="771525" y="4722018"/>
            <a:ext cx="2124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Base de datos SQL optimizada para el registro de series de tiempo.</a:t>
            </a:r>
            <a:endParaRPr/>
          </a:p>
        </p:txBody>
      </p:sp>
      <p:sp>
        <p:nvSpPr>
          <p:cNvPr id="294" name="Google Shape;294;g3f8548adf50_0_126"/>
          <p:cNvSpPr txBox="1"/>
          <p:nvPr/>
        </p:nvSpPr>
        <p:spPr>
          <a:xfrm>
            <a:off x="4068127" y="4474368"/>
            <a:ext cx="960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4. UI Visual</a:t>
            </a:r>
            <a:endParaRPr/>
          </a:p>
        </p:txBody>
      </p:sp>
      <p:sp>
        <p:nvSpPr>
          <p:cNvPr id="295" name="Google Shape;295;g3f8548adf50_0_126"/>
          <p:cNvSpPr txBox="1"/>
          <p:nvPr/>
        </p:nvSpPr>
        <p:spPr>
          <a:xfrm>
            <a:off x="3191100" y="4735963"/>
            <a:ext cx="27618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050">
                <a:solidFill>
                  <a:srgbClr val="475569"/>
                </a:solidFill>
              </a:rPr>
              <a:t>SPA desarrollada en React + TypeScript y TailwindCSS. Implementa React Query para caché y revalidación, con visualizaciones avanzadas en Chart.js/Recharts. </a:t>
            </a:r>
            <a:endParaRPr sz="1050">
              <a:solidFill>
                <a:srgbClr val="475569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0" name="Google Shape;300;g3f9c8c7a50e_0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1" name="Google Shape;301;g3f9c8c7a50e_0_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305550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g3f9c8c7a50e_0_7"/>
          <p:cNvSpPr txBox="1"/>
          <p:nvPr/>
        </p:nvSpPr>
        <p:spPr>
          <a:xfrm>
            <a:off x="612150" y="494775"/>
            <a:ext cx="109677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8. </a:t>
            </a:r>
            <a:r>
              <a:rPr b="1" i="0" lang="en-US" sz="31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Arquitectura del Sistema</a:t>
            </a:r>
            <a:endParaRPr/>
          </a:p>
        </p:txBody>
      </p:sp>
      <p:sp>
        <p:nvSpPr>
          <p:cNvPr id="303" name="Google Shape;303;g3f9c8c7a50e_0_7"/>
          <p:cNvSpPr/>
          <p:nvPr/>
        </p:nvSpPr>
        <p:spPr>
          <a:xfrm>
            <a:off x="571500" y="1104900"/>
            <a:ext cx="11049000" cy="19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g3f9c8c7a50e_0_7"/>
          <p:cNvSpPr txBox="1"/>
          <p:nvPr/>
        </p:nvSpPr>
        <p:spPr>
          <a:xfrm>
            <a:off x="571500" y="6457950"/>
            <a:ext cx="1600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Power Guardian Pro MVP</a:t>
            </a:r>
            <a:endParaRPr/>
          </a:p>
        </p:txBody>
      </p:sp>
      <p:sp>
        <p:nvSpPr>
          <p:cNvPr id="305" name="Google Shape;305;g3f9c8c7a50e_0_7"/>
          <p:cNvSpPr txBox="1"/>
          <p:nvPr/>
        </p:nvSpPr>
        <p:spPr>
          <a:xfrm>
            <a:off x="11449050" y="6457950"/>
            <a:ext cx="171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08</a:t>
            </a:r>
            <a:endParaRPr/>
          </a:p>
        </p:txBody>
      </p:sp>
      <p:pic>
        <p:nvPicPr>
          <p:cNvPr id="306" name="Google Shape;306;g3f9c8c7a50e_0_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1925" y="1514475"/>
            <a:ext cx="12172950" cy="413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1" name="Google Shape;31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2" name="Google Shape;31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305550"/>
            <a:ext cx="1104900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3" name="Google Shape;313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457325"/>
            <a:ext cx="11211925" cy="488155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605250" y="476250"/>
            <a:ext cx="11144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9. </a:t>
            </a:r>
            <a:r>
              <a:rPr b="1" i="0" lang="en-US" sz="31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Metodología de Trabajo</a:t>
            </a:r>
            <a:endParaRPr/>
          </a:p>
        </p:txBody>
      </p:sp>
      <p:sp>
        <p:nvSpPr>
          <p:cNvPr id="315" name="Google Shape;315;p9"/>
          <p:cNvSpPr/>
          <p:nvPr/>
        </p:nvSpPr>
        <p:spPr>
          <a:xfrm>
            <a:off x="571500" y="110490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571500" y="6457950"/>
            <a:ext cx="16002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Power Guardian Pro MVP</a:t>
            </a:r>
            <a:endParaRPr/>
          </a:p>
        </p:txBody>
      </p:sp>
      <p:sp>
        <p:nvSpPr>
          <p:cNvPr id="317" name="Google Shape;317;p9"/>
          <p:cNvSpPr txBox="1"/>
          <p:nvPr/>
        </p:nvSpPr>
        <p:spPr>
          <a:xfrm>
            <a:off x="11449050" y="6457950"/>
            <a:ext cx="1714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09</a:t>
            </a:r>
            <a:endParaRPr/>
          </a:p>
        </p:txBody>
      </p:sp>
      <p:sp>
        <p:nvSpPr>
          <p:cNvPr id="318" name="Google Shape;318;p9"/>
          <p:cNvSpPr txBox="1"/>
          <p:nvPr/>
        </p:nvSpPr>
        <p:spPr>
          <a:xfrm>
            <a:off x="961040" y="1786588"/>
            <a:ext cx="8583300" cy="5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938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1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Enfoque Ágil (Scrum)</a:t>
            </a:r>
            <a:endParaRPr sz="2567"/>
          </a:p>
        </p:txBody>
      </p:sp>
      <p:sp>
        <p:nvSpPr>
          <p:cNvPr id="319" name="Google Shape;319;p9"/>
          <p:cNvSpPr txBox="1"/>
          <p:nvPr/>
        </p:nvSpPr>
        <p:spPr>
          <a:xfrm>
            <a:off x="961050" y="2957450"/>
            <a:ext cx="10432800" cy="18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Adaptamos el marco de trabajo Scrum para realizar entregas incrementales y funcionales del software. Esto nos permite validar rápidamente las hipótesis arquitectónicas.</a:t>
            </a:r>
            <a:endParaRPr b="0" i="0" sz="1800" u="none" cap="none" strike="noStrik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Trabajaremos en base a un </a:t>
            </a:r>
            <a:r>
              <a:rPr i="1" lang="en-US" sz="18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Product Backlog</a:t>
            </a:r>
            <a:r>
              <a:rPr lang="en-US" sz="18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enfocado estrictamente en la viabilidad del MVP informático, iterando sobre Sprints cortos y medibles.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25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320" name="Google Shape;320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1040" y="1821522"/>
            <a:ext cx="419213" cy="419213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9"/>
          <p:cNvSpPr txBox="1"/>
          <p:nvPr/>
        </p:nvSpPr>
        <p:spPr>
          <a:xfrm>
            <a:off x="6667500" y="3693318"/>
            <a:ext cx="104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6" name="Google Shape;326;g3f8548adf50_0_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7" name="Google Shape;327;g3f8548adf50_0_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305550"/>
            <a:ext cx="1104900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8" name="Google Shape;328;g3f8548adf50_0_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274050"/>
            <a:ext cx="10472474" cy="488155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g3f8548adf50_0_15"/>
          <p:cNvSpPr txBox="1"/>
          <p:nvPr/>
        </p:nvSpPr>
        <p:spPr>
          <a:xfrm>
            <a:off x="571500" y="470150"/>
            <a:ext cx="11144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10. Roles</a:t>
            </a:r>
            <a:endParaRPr/>
          </a:p>
        </p:txBody>
      </p:sp>
      <p:sp>
        <p:nvSpPr>
          <p:cNvPr id="330" name="Google Shape;330;g3f8548adf50_0_15"/>
          <p:cNvSpPr/>
          <p:nvPr/>
        </p:nvSpPr>
        <p:spPr>
          <a:xfrm>
            <a:off x="571500" y="1104900"/>
            <a:ext cx="11049000" cy="19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g3f8548adf50_0_15"/>
          <p:cNvSpPr txBox="1"/>
          <p:nvPr/>
        </p:nvSpPr>
        <p:spPr>
          <a:xfrm>
            <a:off x="571500" y="6457950"/>
            <a:ext cx="1600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Power Guardian Pro MVP</a:t>
            </a:r>
            <a:endParaRPr/>
          </a:p>
        </p:txBody>
      </p:sp>
      <p:sp>
        <p:nvSpPr>
          <p:cNvPr id="332" name="Google Shape;332;g3f8548adf50_0_15"/>
          <p:cNvSpPr txBox="1"/>
          <p:nvPr/>
        </p:nvSpPr>
        <p:spPr>
          <a:xfrm>
            <a:off x="11449050" y="6457950"/>
            <a:ext cx="171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09</a:t>
            </a:r>
            <a:endParaRPr/>
          </a:p>
        </p:txBody>
      </p:sp>
      <p:sp>
        <p:nvSpPr>
          <p:cNvPr id="333" name="Google Shape;333;g3f8548adf50_0_15"/>
          <p:cNvSpPr txBox="1"/>
          <p:nvPr/>
        </p:nvSpPr>
        <p:spPr>
          <a:xfrm>
            <a:off x="952500" y="1758925"/>
            <a:ext cx="4680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Distribución de Roles</a:t>
            </a:r>
            <a:endParaRPr/>
          </a:p>
        </p:txBody>
      </p:sp>
      <p:pic>
        <p:nvPicPr>
          <p:cNvPr descr="image.png" id="334" name="Google Shape;334;g3f8548adf50_0_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1783225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g3f8548adf50_0_15"/>
          <p:cNvSpPr/>
          <p:nvPr/>
        </p:nvSpPr>
        <p:spPr>
          <a:xfrm>
            <a:off x="952112" y="2342250"/>
            <a:ext cx="9731100" cy="835500"/>
          </a:xfrm>
          <a:prstGeom prst="roundRect">
            <a:avLst>
              <a:gd fmla="val 6400" name="adj"/>
            </a:avLst>
          </a:prstGeom>
          <a:solidFill>
            <a:srgbClr val="C9DA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g3f8548adf50_0_15"/>
          <p:cNvSpPr txBox="1"/>
          <p:nvPr/>
        </p:nvSpPr>
        <p:spPr>
          <a:xfrm>
            <a:off x="1380737" y="2442516"/>
            <a:ext cx="88497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Cristóbal Mena: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Product</a:t>
            </a:r>
            <a:r>
              <a:rPr lang="en-US" sz="142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Owner /Developer</a:t>
            </a:r>
            <a:endParaRPr sz="1425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Responsabilidad Técnica: </a:t>
            </a:r>
            <a:r>
              <a:rPr b="0" i="0" lang="en-US" sz="14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Diseño de Base de Datos y Arquitectura general.</a:t>
            </a:r>
            <a:endParaRPr/>
          </a:p>
        </p:txBody>
      </p:sp>
      <p:sp>
        <p:nvSpPr>
          <p:cNvPr id="337" name="Google Shape;337;g3f8548adf50_0_15"/>
          <p:cNvSpPr/>
          <p:nvPr/>
        </p:nvSpPr>
        <p:spPr>
          <a:xfrm>
            <a:off x="952112" y="2342250"/>
            <a:ext cx="38100" cy="8355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g3f8548adf50_0_15"/>
          <p:cNvSpPr txBox="1"/>
          <p:nvPr/>
        </p:nvSpPr>
        <p:spPr>
          <a:xfrm>
            <a:off x="6667500" y="3693318"/>
            <a:ext cx="104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g3f8548adf50_0_15"/>
          <p:cNvSpPr/>
          <p:nvPr/>
        </p:nvSpPr>
        <p:spPr>
          <a:xfrm>
            <a:off x="952112" y="3278062"/>
            <a:ext cx="9731100" cy="835500"/>
          </a:xfrm>
          <a:prstGeom prst="roundRect">
            <a:avLst>
              <a:gd fmla="val 6400" name="adj"/>
            </a:avLst>
          </a:prstGeom>
          <a:solidFill>
            <a:srgbClr val="CFE2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g3f8548adf50_0_15"/>
          <p:cNvSpPr txBox="1"/>
          <p:nvPr/>
        </p:nvSpPr>
        <p:spPr>
          <a:xfrm>
            <a:off x="1380737" y="3378327"/>
            <a:ext cx="88497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Francisco Neira: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Scru</a:t>
            </a:r>
            <a:r>
              <a:rPr lang="en-US" sz="142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 Master / Developer</a:t>
            </a:r>
            <a:endParaRPr b="0" i="0" sz="1425" u="none" cap="none" strike="noStrik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Responsabilidad Técnica: </a:t>
            </a:r>
            <a:r>
              <a:rPr b="0" i="0" lang="en-US" sz="14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Motor Simulador, Lógica Backend y API REST.</a:t>
            </a:r>
            <a:endParaRPr/>
          </a:p>
        </p:txBody>
      </p:sp>
      <p:sp>
        <p:nvSpPr>
          <p:cNvPr id="341" name="Google Shape;341;g3f8548adf50_0_15"/>
          <p:cNvSpPr/>
          <p:nvPr/>
        </p:nvSpPr>
        <p:spPr>
          <a:xfrm>
            <a:off x="952112" y="3278062"/>
            <a:ext cx="38100" cy="8355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g3f8548adf50_0_15"/>
          <p:cNvSpPr/>
          <p:nvPr/>
        </p:nvSpPr>
        <p:spPr>
          <a:xfrm>
            <a:off x="952112" y="4213874"/>
            <a:ext cx="9731100" cy="715800"/>
          </a:xfrm>
          <a:prstGeom prst="roundRect">
            <a:avLst>
              <a:gd fmla="val 829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g3f8548adf50_0_15"/>
          <p:cNvSpPr txBox="1"/>
          <p:nvPr/>
        </p:nvSpPr>
        <p:spPr>
          <a:xfrm>
            <a:off x="1380737" y="4263980"/>
            <a:ext cx="89898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Fabián Bugueño: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Developer</a:t>
            </a:r>
            <a:endParaRPr b="0" i="0" sz="1425" u="none" cap="none" strike="noStrik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Responsabilidad Técnica: </a:t>
            </a:r>
            <a:r>
              <a:rPr b="0" i="0" lang="en-US" sz="14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Desarrollo Frontend, UX/UI y Dashboard.</a:t>
            </a:r>
            <a:endParaRPr/>
          </a:p>
        </p:txBody>
      </p:sp>
      <p:sp>
        <p:nvSpPr>
          <p:cNvPr id="344" name="Google Shape;344;g3f8548adf50_0_15"/>
          <p:cNvSpPr/>
          <p:nvPr/>
        </p:nvSpPr>
        <p:spPr>
          <a:xfrm flipH="1">
            <a:off x="952112" y="4213874"/>
            <a:ext cx="38100" cy="7158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g3f8548adf50_0_15"/>
          <p:cNvSpPr/>
          <p:nvPr/>
        </p:nvSpPr>
        <p:spPr>
          <a:xfrm>
            <a:off x="932275" y="5029893"/>
            <a:ext cx="9731100" cy="715800"/>
          </a:xfrm>
          <a:prstGeom prst="roundRect">
            <a:avLst>
              <a:gd fmla="val 8290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g3f8548adf50_0_15"/>
          <p:cNvSpPr txBox="1"/>
          <p:nvPr/>
        </p:nvSpPr>
        <p:spPr>
          <a:xfrm>
            <a:off x="1380720" y="5216837"/>
            <a:ext cx="89898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Claudio Bugueño</a:t>
            </a:r>
            <a:r>
              <a:rPr b="1" i="0" lang="en-US" sz="14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Stakeholder</a:t>
            </a:r>
            <a:endParaRPr b="0" i="0" sz="1425" u="none" cap="none" strike="noStrik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g3f8548adf50_0_15"/>
          <p:cNvSpPr/>
          <p:nvPr/>
        </p:nvSpPr>
        <p:spPr>
          <a:xfrm flipH="1">
            <a:off x="932275" y="5029893"/>
            <a:ext cx="38100" cy="7158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2" name="Google Shape;35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3" name="Google Shape;35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305550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10"/>
          <p:cNvSpPr txBox="1"/>
          <p:nvPr/>
        </p:nvSpPr>
        <p:spPr>
          <a:xfrm>
            <a:off x="571500" y="491900"/>
            <a:ext cx="11049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11. </a:t>
            </a:r>
            <a:r>
              <a:rPr b="1" i="0" lang="en-US" sz="31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Evidencias del Proyecto</a:t>
            </a:r>
            <a:endParaRPr/>
          </a:p>
        </p:txBody>
      </p:sp>
      <p:sp>
        <p:nvSpPr>
          <p:cNvPr id="355" name="Google Shape;355;p10"/>
          <p:cNvSpPr/>
          <p:nvPr/>
        </p:nvSpPr>
        <p:spPr>
          <a:xfrm>
            <a:off x="571500" y="110490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0"/>
          <p:cNvSpPr txBox="1"/>
          <p:nvPr/>
        </p:nvSpPr>
        <p:spPr>
          <a:xfrm>
            <a:off x="571500" y="6457950"/>
            <a:ext cx="16002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Power Guardian Pro MVP</a:t>
            </a:r>
            <a:endParaRPr/>
          </a:p>
        </p:txBody>
      </p:sp>
      <p:sp>
        <p:nvSpPr>
          <p:cNvPr id="357" name="Google Shape;357;p10"/>
          <p:cNvSpPr txBox="1"/>
          <p:nvPr/>
        </p:nvSpPr>
        <p:spPr>
          <a:xfrm>
            <a:off x="11477625" y="6457950"/>
            <a:ext cx="1428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10</a:t>
            </a:r>
            <a:endParaRPr/>
          </a:p>
        </p:txBody>
      </p:sp>
      <p:sp>
        <p:nvSpPr>
          <p:cNvPr id="358" name="Google Shape;358;p10"/>
          <p:cNvSpPr/>
          <p:nvPr/>
        </p:nvSpPr>
        <p:spPr>
          <a:xfrm>
            <a:off x="571500" y="1457325"/>
            <a:ext cx="11049000" cy="1557337"/>
          </a:xfrm>
          <a:prstGeom prst="roundRect">
            <a:avLst>
              <a:gd fmla="val 4892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0"/>
          <p:cNvSpPr txBox="1"/>
          <p:nvPr/>
        </p:nvSpPr>
        <p:spPr>
          <a:xfrm>
            <a:off x="1000125" y="1647825"/>
            <a:ext cx="104298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Evidencia 1: </a:t>
            </a:r>
            <a:r>
              <a:rPr b="1" lang="en-US" sz="1425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Medición y </a:t>
            </a:r>
            <a:r>
              <a:rPr b="1" lang="en-US" sz="1425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monitoreo</a:t>
            </a:r>
            <a:r>
              <a:rPr b="1" lang="en-US" sz="1425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básico - Sprint 1</a:t>
            </a:r>
            <a:endParaRPr b="1" sz="1425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Implementación de la arquitectura y modelo de datos, configuración de los parámetros de entrada, ingesta y almacenamiento de mediciones. Se evidenciará la consulta de datos y una visualización básica del estado del panel eléctrico.</a:t>
            </a:r>
            <a:endParaRPr/>
          </a:p>
        </p:txBody>
      </p:sp>
      <p:sp>
        <p:nvSpPr>
          <p:cNvPr id="360" name="Google Shape;360;p10"/>
          <p:cNvSpPr/>
          <p:nvPr/>
        </p:nvSpPr>
        <p:spPr>
          <a:xfrm>
            <a:off x="571500" y="1457325"/>
            <a:ext cx="38100" cy="1557337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0"/>
          <p:cNvSpPr/>
          <p:nvPr/>
        </p:nvSpPr>
        <p:spPr>
          <a:xfrm>
            <a:off x="571500" y="3252787"/>
            <a:ext cx="11049000" cy="1557337"/>
          </a:xfrm>
          <a:prstGeom prst="roundRect">
            <a:avLst>
              <a:gd fmla="val 4892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0"/>
          <p:cNvSpPr txBox="1"/>
          <p:nvPr/>
        </p:nvSpPr>
        <p:spPr>
          <a:xfrm>
            <a:off x="1000150" y="3661405"/>
            <a:ext cx="104298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Evidencia 2:</a:t>
            </a:r>
            <a:r>
              <a:rPr b="1" lang="en-US" sz="1425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Interfaz visual y sistema de alertas — Sprint 2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Implementación del Dashboard de monitoreo, gráficos de los principales parámetros eléctricos, detección de anomalías y definición de condiciones críticas. Se evidenciará el funcionamiento del sistema de notificaciones ante la detección de condiciones críticas. </a:t>
            </a:r>
            <a:endParaRPr/>
          </a:p>
        </p:txBody>
      </p:sp>
      <p:sp>
        <p:nvSpPr>
          <p:cNvPr id="363" name="Google Shape;363;p10"/>
          <p:cNvSpPr/>
          <p:nvPr/>
        </p:nvSpPr>
        <p:spPr>
          <a:xfrm>
            <a:off x="571500" y="3252787"/>
            <a:ext cx="38100" cy="1557337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0"/>
          <p:cNvSpPr/>
          <p:nvPr/>
        </p:nvSpPr>
        <p:spPr>
          <a:xfrm>
            <a:off x="571500" y="5048250"/>
            <a:ext cx="11049000" cy="1557337"/>
          </a:xfrm>
          <a:prstGeom prst="roundRect">
            <a:avLst>
              <a:gd fmla="val 4892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0"/>
          <p:cNvSpPr/>
          <p:nvPr/>
        </p:nvSpPr>
        <p:spPr>
          <a:xfrm>
            <a:off x="571500" y="5048250"/>
            <a:ext cx="38100" cy="1557337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66" name="Google Shape;366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2475" y="1662112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7" name="Google Shape;367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2475" y="3862825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8" name="Google Shape;368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2475" y="5253037"/>
            <a:ext cx="21907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10"/>
          <p:cNvSpPr txBox="1"/>
          <p:nvPr/>
        </p:nvSpPr>
        <p:spPr>
          <a:xfrm>
            <a:off x="1000125" y="5238750"/>
            <a:ext cx="104298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Evidencia 3: </a:t>
            </a:r>
            <a:r>
              <a:rPr b="1" lang="en-US" sz="1425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Producto Mínimo Viable — Sprint 3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Implementación de consultas y visualización de históricos, filtros y búsqueda de mediciones, consulta de incidencias y visualización del estado de los componentes del sistema. Se evidenciará la integración de las funcionalidades mediante una demostración del MVP, incluyendo la simulación de condiciones anómalas y generación de alertas. 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4" name="Google Shape;374;g3f9b1a32ec0_0_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5" name="Google Shape;375;g3f9b1a32ec0_0_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305550"/>
            <a:ext cx="1104900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6" name="Google Shape;376;g3f9b1a32ec0_0_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8475" y="2030788"/>
            <a:ext cx="1928324" cy="3719537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g3f9b1a32ec0_0_32"/>
          <p:cNvSpPr txBox="1"/>
          <p:nvPr/>
        </p:nvSpPr>
        <p:spPr>
          <a:xfrm>
            <a:off x="571500" y="434350"/>
            <a:ext cx="110922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r>
              <a:rPr b="1" lang="en-US" sz="31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. Evidencias por sprint</a:t>
            </a:r>
            <a:endParaRPr b="1" sz="315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15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8" name="Google Shape;378;g3f9b1a32ec0_0_32"/>
          <p:cNvSpPr/>
          <p:nvPr/>
        </p:nvSpPr>
        <p:spPr>
          <a:xfrm>
            <a:off x="571500" y="1104900"/>
            <a:ext cx="11049000" cy="19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g3f9b1a32ec0_0_32"/>
          <p:cNvSpPr txBox="1"/>
          <p:nvPr/>
        </p:nvSpPr>
        <p:spPr>
          <a:xfrm>
            <a:off x="571500" y="6457950"/>
            <a:ext cx="1600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Power Guardian Pro MVP</a:t>
            </a:r>
            <a:endParaRPr/>
          </a:p>
        </p:txBody>
      </p:sp>
      <p:sp>
        <p:nvSpPr>
          <p:cNvPr id="380" name="Google Shape;380;g3f9b1a32ec0_0_32"/>
          <p:cNvSpPr txBox="1"/>
          <p:nvPr/>
        </p:nvSpPr>
        <p:spPr>
          <a:xfrm>
            <a:off x="11458575" y="6457950"/>
            <a:ext cx="162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05</a:t>
            </a:r>
            <a:endParaRPr/>
          </a:p>
        </p:txBody>
      </p:sp>
      <p:sp>
        <p:nvSpPr>
          <p:cNvPr id="381" name="Google Shape;381;g3f9b1a32ec0_0_32"/>
          <p:cNvSpPr txBox="1"/>
          <p:nvPr/>
        </p:nvSpPr>
        <p:spPr>
          <a:xfrm>
            <a:off x="791516" y="2414619"/>
            <a:ext cx="1682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Product Backlog</a:t>
            </a:r>
            <a:endParaRPr/>
          </a:p>
        </p:txBody>
      </p:sp>
      <p:sp>
        <p:nvSpPr>
          <p:cNvPr id="382" name="Google Shape;382;g3f9b1a32ec0_0_32"/>
          <p:cNvSpPr txBox="1"/>
          <p:nvPr/>
        </p:nvSpPr>
        <p:spPr>
          <a:xfrm>
            <a:off x="831500" y="3280527"/>
            <a:ext cx="1602300" cy="19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7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Historias de usuario, prioridades y tareas del proyecto.</a:t>
            </a:r>
            <a:endParaRPr sz="1900"/>
          </a:p>
        </p:txBody>
      </p:sp>
      <p:pic>
        <p:nvPicPr>
          <p:cNvPr descr="image.png" id="383" name="Google Shape;383;g3f9b1a32ec0_0_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10957" y="2030775"/>
            <a:ext cx="1928324" cy="3719537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g3f9b1a32ec0_0_32"/>
          <p:cNvSpPr txBox="1"/>
          <p:nvPr/>
        </p:nvSpPr>
        <p:spPr>
          <a:xfrm>
            <a:off x="3033997" y="2414606"/>
            <a:ext cx="1682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Sprint Planning </a:t>
            </a:r>
            <a:endParaRPr/>
          </a:p>
        </p:txBody>
      </p:sp>
      <p:sp>
        <p:nvSpPr>
          <p:cNvPr id="385" name="Google Shape;385;g3f9b1a32ec0_0_32"/>
          <p:cNvSpPr txBox="1"/>
          <p:nvPr/>
        </p:nvSpPr>
        <p:spPr>
          <a:xfrm>
            <a:off x="3073985" y="3280512"/>
            <a:ext cx="1602300" cy="15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7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Planificación y definición de objetivos de cada Sprint. </a:t>
            </a:r>
            <a:endParaRPr sz="1900"/>
          </a:p>
        </p:txBody>
      </p:sp>
      <p:pic>
        <p:nvPicPr>
          <p:cNvPr descr="image.png" id="386" name="Google Shape;386;g3f9b1a32ec0_0_3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153438" y="2030775"/>
            <a:ext cx="1928324" cy="3719537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g3f9b1a32ec0_0_32"/>
          <p:cNvSpPr txBox="1"/>
          <p:nvPr/>
        </p:nvSpPr>
        <p:spPr>
          <a:xfrm>
            <a:off x="5276479" y="2414606"/>
            <a:ext cx="1682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Daily Scrum</a:t>
            </a:r>
            <a:endParaRPr/>
          </a:p>
        </p:txBody>
      </p:sp>
      <p:sp>
        <p:nvSpPr>
          <p:cNvPr id="388" name="Google Shape;388;g3f9b1a32ec0_0_32"/>
          <p:cNvSpPr txBox="1"/>
          <p:nvPr/>
        </p:nvSpPr>
        <p:spPr>
          <a:xfrm>
            <a:off x="5316467" y="3280512"/>
            <a:ext cx="1602300" cy="19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7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Seguimiento de avances, dificultades y tareas pendientes. </a:t>
            </a:r>
            <a:endParaRPr sz="1900"/>
          </a:p>
        </p:txBody>
      </p:sp>
      <p:pic>
        <p:nvPicPr>
          <p:cNvPr descr="image.png" id="389" name="Google Shape;389;g3f9b1a32ec0_0_3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395920" y="2030775"/>
            <a:ext cx="1928324" cy="3719537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g3f9b1a32ec0_0_32"/>
          <p:cNvSpPr txBox="1"/>
          <p:nvPr/>
        </p:nvSpPr>
        <p:spPr>
          <a:xfrm>
            <a:off x="7518961" y="2414606"/>
            <a:ext cx="1682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Sprint Review</a:t>
            </a:r>
            <a:endParaRPr/>
          </a:p>
        </p:txBody>
      </p:sp>
      <p:sp>
        <p:nvSpPr>
          <p:cNvPr id="391" name="Google Shape;391;g3f9b1a32ec0_0_32"/>
          <p:cNvSpPr txBox="1"/>
          <p:nvPr/>
        </p:nvSpPr>
        <p:spPr>
          <a:xfrm>
            <a:off x="7558949" y="3280512"/>
            <a:ext cx="1602300" cy="19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7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Presentación de los incrementos funcionales desarrollados. </a:t>
            </a:r>
            <a:endParaRPr sz="1900"/>
          </a:p>
        </p:txBody>
      </p:sp>
      <p:pic>
        <p:nvPicPr>
          <p:cNvPr descr="image.png" id="392" name="Google Shape;392;g3f9b1a32ec0_0_3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38402" y="2030775"/>
            <a:ext cx="1928324" cy="3719537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g3f9b1a32ec0_0_32"/>
          <p:cNvSpPr txBox="1"/>
          <p:nvPr/>
        </p:nvSpPr>
        <p:spPr>
          <a:xfrm>
            <a:off x="9761442" y="2414606"/>
            <a:ext cx="1682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Sprint Retrospective </a:t>
            </a:r>
            <a:endParaRPr/>
          </a:p>
        </p:txBody>
      </p:sp>
      <p:sp>
        <p:nvSpPr>
          <p:cNvPr id="394" name="Google Shape;394;g3f9b1a32ec0_0_32"/>
          <p:cNvSpPr txBox="1"/>
          <p:nvPr/>
        </p:nvSpPr>
        <p:spPr>
          <a:xfrm>
            <a:off x="9801430" y="3280512"/>
            <a:ext cx="1602300" cy="19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7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Evaluación del trabajo realizado y oportunidades de mejora. </a:t>
            </a:r>
            <a:endParaRPr sz="19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99" name="Google Shape;399;g3f8548adf50_0_2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0" name="Google Shape;400;g3f8548adf50_0_2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305550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g3f8548adf50_0_218"/>
          <p:cNvSpPr txBox="1"/>
          <p:nvPr/>
        </p:nvSpPr>
        <p:spPr>
          <a:xfrm>
            <a:off x="571500" y="526375"/>
            <a:ext cx="11049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13. Cronograma</a:t>
            </a:r>
            <a:endParaRPr/>
          </a:p>
        </p:txBody>
      </p:sp>
      <p:sp>
        <p:nvSpPr>
          <p:cNvPr id="402" name="Google Shape;402;g3f8548adf50_0_218"/>
          <p:cNvSpPr/>
          <p:nvPr/>
        </p:nvSpPr>
        <p:spPr>
          <a:xfrm>
            <a:off x="571500" y="1104900"/>
            <a:ext cx="11049000" cy="19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g3f8548adf50_0_218"/>
          <p:cNvSpPr txBox="1"/>
          <p:nvPr/>
        </p:nvSpPr>
        <p:spPr>
          <a:xfrm>
            <a:off x="571500" y="6457950"/>
            <a:ext cx="2667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Confidencial - Uso Académico Capstone</a:t>
            </a:r>
            <a:endParaRPr/>
          </a:p>
        </p:txBody>
      </p:sp>
      <p:sp>
        <p:nvSpPr>
          <p:cNvPr id="404" name="Google Shape;404;g3f8548adf50_0_218"/>
          <p:cNvSpPr txBox="1"/>
          <p:nvPr/>
        </p:nvSpPr>
        <p:spPr>
          <a:xfrm>
            <a:off x="11477625" y="6457950"/>
            <a:ext cx="142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12</a:t>
            </a:r>
            <a:endParaRPr/>
          </a:p>
        </p:txBody>
      </p:sp>
      <p:pic>
        <p:nvPicPr>
          <p:cNvPr id="405" name="Google Shape;405;g3f8548adf50_0_218" title="Captura de pantalla 2026-08-30 20534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87319" y="1007882"/>
            <a:ext cx="9617368" cy="5439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10" name="Google Shape;410;g3f8548adf50_0_2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1" name="Google Shape;411;g3f8548adf50_0_20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305550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g3f8548adf50_0_208"/>
          <p:cNvSpPr txBox="1"/>
          <p:nvPr/>
        </p:nvSpPr>
        <p:spPr>
          <a:xfrm>
            <a:off x="571500" y="491900"/>
            <a:ext cx="11049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14. </a:t>
            </a:r>
            <a:r>
              <a:rPr b="1" i="0" lang="en-US" sz="31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Conclusi</a:t>
            </a:r>
            <a:r>
              <a:rPr b="1" lang="en-US" sz="31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ón</a:t>
            </a:r>
            <a:endParaRPr/>
          </a:p>
        </p:txBody>
      </p:sp>
      <p:sp>
        <p:nvSpPr>
          <p:cNvPr id="413" name="Google Shape;413;g3f8548adf50_0_208"/>
          <p:cNvSpPr/>
          <p:nvPr/>
        </p:nvSpPr>
        <p:spPr>
          <a:xfrm>
            <a:off x="571500" y="1104900"/>
            <a:ext cx="11049000" cy="19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g3f8548adf50_0_208"/>
          <p:cNvSpPr txBox="1"/>
          <p:nvPr/>
        </p:nvSpPr>
        <p:spPr>
          <a:xfrm>
            <a:off x="571500" y="6457950"/>
            <a:ext cx="2667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Confidencial - Uso Académico Capstone</a:t>
            </a:r>
            <a:endParaRPr/>
          </a:p>
        </p:txBody>
      </p:sp>
      <p:sp>
        <p:nvSpPr>
          <p:cNvPr id="415" name="Google Shape;415;g3f8548adf50_0_208"/>
          <p:cNvSpPr txBox="1"/>
          <p:nvPr/>
        </p:nvSpPr>
        <p:spPr>
          <a:xfrm>
            <a:off x="11477625" y="6457950"/>
            <a:ext cx="142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12</a:t>
            </a:r>
            <a:endParaRPr/>
          </a:p>
        </p:txBody>
      </p:sp>
      <p:pic>
        <p:nvPicPr>
          <p:cNvPr descr="image.png" id="416" name="Google Shape;416;g3f8548adf50_0_20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457325"/>
            <a:ext cx="11211925" cy="4881550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g3f8548adf50_0_208"/>
          <p:cNvSpPr txBox="1"/>
          <p:nvPr/>
        </p:nvSpPr>
        <p:spPr>
          <a:xfrm>
            <a:off x="961050" y="1910025"/>
            <a:ext cx="10432800" cy="31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La definición de este proyecto permitió establecer con claridad el problema que se busca abordar, sus objetivos, alcance y principales funcionalidades. Además, se definió una planificación por sprints que permitirá desarrollar la solución de manera ordenada y progresiva, dejando una base clara para las siguientes etapas del proyecto.</a:t>
            </a:r>
            <a:endParaRPr sz="25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25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22" name="Google Shape;422;g3f8548adf50_0_1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3" name="Google Shape;423;g3f8548adf50_0_18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305550"/>
            <a:ext cx="1104900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4" name="Google Shape;424;g3f8548adf50_0_18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457325"/>
            <a:ext cx="3492549" cy="28908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5" name="Google Shape;425;g3f8548adf50_0_18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49799" y="1457325"/>
            <a:ext cx="3492549" cy="28908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6" name="Google Shape;426;g3f8548adf50_0_18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28099" y="1457325"/>
            <a:ext cx="3492549" cy="2890837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g3f8548adf50_0_183"/>
          <p:cNvSpPr txBox="1"/>
          <p:nvPr/>
        </p:nvSpPr>
        <p:spPr>
          <a:xfrm>
            <a:off x="571488" y="460600"/>
            <a:ext cx="11049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15. </a:t>
            </a:r>
            <a:r>
              <a:rPr b="1" i="0" lang="en-US" sz="31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Reflexiones Finales</a:t>
            </a:r>
            <a:endParaRPr/>
          </a:p>
        </p:txBody>
      </p:sp>
      <p:sp>
        <p:nvSpPr>
          <p:cNvPr id="428" name="Google Shape;428;g3f8548adf50_0_183"/>
          <p:cNvSpPr/>
          <p:nvPr/>
        </p:nvSpPr>
        <p:spPr>
          <a:xfrm>
            <a:off x="571500" y="1104900"/>
            <a:ext cx="11049000" cy="19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g3f8548adf50_0_183"/>
          <p:cNvSpPr txBox="1"/>
          <p:nvPr/>
        </p:nvSpPr>
        <p:spPr>
          <a:xfrm>
            <a:off x="571500" y="6457950"/>
            <a:ext cx="2667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Confidencial - Uso Académico Capstone</a:t>
            </a:r>
            <a:endParaRPr/>
          </a:p>
        </p:txBody>
      </p:sp>
      <p:sp>
        <p:nvSpPr>
          <p:cNvPr id="430" name="Google Shape;430;g3f8548adf50_0_183"/>
          <p:cNvSpPr txBox="1"/>
          <p:nvPr/>
        </p:nvSpPr>
        <p:spPr>
          <a:xfrm>
            <a:off x="11477625" y="6457950"/>
            <a:ext cx="142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12</a:t>
            </a:r>
            <a:endParaRPr/>
          </a:p>
        </p:txBody>
      </p:sp>
      <p:pic>
        <p:nvPicPr>
          <p:cNvPr descr="image.png" id="431" name="Google Shape;431;g3f8548adf50_0_18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031950" y="187642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g3f8548adf50_0_183"/>
          <p:cNvSpPr txBox="1"/>
          <p:nvPr/>
        </p:nvSpPr>
        <p:spPr>
          <a:xfrm>
            <a:off x="1657617" y="2590800"/>
            <a:ext cx="1320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Cristóbal Mena</a:t>
            </a:r>
            <a:endParaRPr/>
          </a:p>
        </p:txBody>
      </p:sp>
      <p:sp>
        <p:nvSpPr>
          <p:cNvPr id="433" name="Google Shape;433;g3f8548adf50_0_183"/>
          <p:cNvSpPr txBox="1"/>
          <p:nvPr/>
        </p:nvSpPr>
        <p:spPr>
          <a:xfrm>
            <a:off x="866775" y="2886075"/>
            <a:ext cx="29019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"Estructurar un modelo de datos robusto capaz de soportar la alta frecuencia de registros eléctricos es el pilar fundamental para asegurar la escalabilidad futura del sistema industrial."</a:t>
            </a:r>
            <a:endParaRPr/>
          </a:p>
        </p:txBody>
      </p:sp>
      <p:pic>
        <p:nvPicPr>
          <p:cNvPr descr="image.png" id="434" name="Google Shape;434;g3f8548adf50_0_18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810250" y="187642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g3f8548adf50_0_183"/>
          <p:cNvSpPr txBox="1"/>
          <p:nvPr/>
        </p:nvSpPr>
        <p:spPr>
          <a:xfrm>
            <a:off x="5405913" y="2590800"/>
            <a:ext cx="1380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Francisco Neira</a:t>
            </a:r>
            <a:endParaRPr/>
          </a:p>
        </p:txBody>
      </p:sp>
      <p:sp>
        <p:nvSpPr>
          <p:cNvPr id="436" name="Google Shape;436;g3f8548adf50_0_183"/>
          <p:cNvSpPr txBox="1"/>
          <p:nvPr/>
        </p:nvSpPr>
        <p:spPr>
          <a:xfrm>
            <a:off x="4645074" y="2886075"/>
            <a:ext cx="29019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"El reto de emular un entorno físico complejo a través de una API demuestra cómo el software puede anticiparse a la validación de hardware, agilizando el ciclo de desarrollo."</a:t>
            </a:r>
            <a:endParaRPr/>
          </a:p>
        </p:txBody>
      </p:sp>
      <p:pic>
        <p:nvPicPr>
          <p:cNvPr descr="image.png" id="437" name="Google Shape;437;g3f8548adf50_0_18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588549" y="187642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g3f8548adf50_0_183"/>
          <p:cNvSpPr txBox="1"/>
          <p:nvPr/>
        </p:nvSpPr>
        <p:spPr>
          <a:xfrm>
            <a:off x="9174212" y="2590800"/>
            <a:ext cx="1400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Fabián Bugueño</a:t>
            </a:r>
            <a:endParaRPr/>
          </a:p>
        </p:txBody>
      </p:sp>
      <p:sp>
        <p:nvSpPr>
          <p:cNvPr id="439" name="Google Shape;439;g3f8548adf50_0_183"/>
          <p:cNvSpPr txBox="1"/>
          <p:nvPr/>
        </p:nvSpPr>
        <p:spPr>
          <a:xfrm>
            <a:off x="8423374" y="2886075"/>
            <a:ext cx="29019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"Transformar datos técnicos crudos en una interfaz visual intuitiva es el paso clave para que las operaciones en la industria pasen de ser reactivas a ser proactivas."</a:t>
            </a:r>
            <a:endParaRPr/>
          </a:p>
        </p:txBody>
      </p:sp>
      <p:pic>
        <p:nvPicPr>
          <p:cNvPr descr="image.png" id="440" name="Google Shape;440;g3f8548adf50_0_18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217687" y="2047875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1" name="Google Shape;441;g3f8548adf50_0_18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95987" y="2047875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2" name="Google Shape;442;g3f8548adf50_0_18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774287" y="2047875"/>
            <a:ext cx="200025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