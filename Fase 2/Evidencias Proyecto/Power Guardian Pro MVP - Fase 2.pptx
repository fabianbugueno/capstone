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Inter SemiBold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Inter ExtraBold"/>
      <p:bold r:id="rId37"/>
      <p:boldItalic r:id="rId38"/>
    </p:embeddedFont>
    <p:embeddedFont>
      <p:font typeface="Inter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hK7S+NeMLyTNMMvryoi7CilU6Z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8EDC73-7797-4848-B318-9D01C38C17C0}">
  <a:tblStyle styleId="{398EDC73-7797-4848-B318-9D01C38C17C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86CF6F0-47FC-4BFF-BC8A-1C054571159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.fntdata"/><Relationship Id="rId20" Type="http://schemas.openxmlformats.org/officeDocument/2006/relationships/slide" Target="slides/slide14.xml"/><Relationship Id="rId42" Type="http://schemas.openxmlformats.org/officeDocument/2006/relationships/font" Target="fonts/InterMedium-boldItalic.fntdata"/><Relationship Id="rId41" Type="http://schemas.openxmlformats.org/officeDocument/2006/relationships/font" Target="fonts/InterMedium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italic.fntdata"/><Relationship Id="rId30" Type="http://schemas.openxmlformats.org/officeDocument/2006/relationships/font" Target="fonts/InterSemiBold-bold.fntdata"/><Relationship Id="rId11" Type="http://schemas.openxmlformats.org/officeDocument/2006/relationships/slide" Target="slides/slide5.xml"/><Relationship Id="rId33" Type="http://schemas.openxmlformats.org/officeDocument/2006/relationships/font" Target="fonts/Inter-regular.fntdata"/><Relationship Id="rId10" Type="http://schemas.openxmlformats.org/officeDocument/2006/relationships/slide" Target="slides/slide4.xml"/><Relationship Id="rId32" Type="http://schemas.openxmlformats.org/officeDocument/2006/relationships/font" Target="fonts/Inter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-italic.fntdata"/><Relationship Id="rId12" Type="http://schemas.openxmlformats.org/officeDocument/2006/relationships/slide" Target="slides/slide6.xml"/><Relationship Id="rId34" Type="http://schemas.openxmlformats.org/officeDocument/2006/relationships/font" Target="fonts/Inter-bold.fntdata"/><Relationship Id="rId15" Type="http://schemas.openxmlformats.org/officeDocument/2006/relationships/slide" Target="slides/slide9.xml"/><Relationship Id="rId37" Type="http://schemas.openxmlformats.org/officeDocument/2006/relationships/font" Target="fonts/InterExtraBold-bold.fntdata"/><Relationship Id="rId14" Type="http://schemas.openxmlformats.org/officeDocument/2006/relationships/slide" Target="slides/slide8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1.xml"/><Relationship Id="rId39" Type="http://schemas.openxmlformats.org/officeDocument/2006/relationships/font" Target="fonts/InterMedium-regular.fntdata"/><Relationship Id="rId16" Type="http://schemas.openxmlformats.org/officeDocument/2006/relationships/slide" Target="slides/slide10.xml"/><Relationship Id="rId38" Type="http://schemas.openxmlformats.org/officeDocument/2006/relationships/font" Target="fonts/InterExtra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ñ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8548adf5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f8548adf50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8548adf5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f8548adf50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9c8c7a50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f9c8c7a50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5fd14f1ba485bc0d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h5fd14f1ba485bc0d_3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8548adf5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f8548adf5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8548adf5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3f8548adf50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5fd14f1ba485bc0d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h5fd14f1ba485bc0d_3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5fd14f1ba485bc0d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h5fd14f1ba485bc0d_3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5fd14f1ba485bc0d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h5fd14f1ba485bc0d_3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5fd14f1ba485bc0d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h5fd14f1ba485bc0d_3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8548adf5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f8548adf50_0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8548adf5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g3f8548adf50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4.png"/><Relationship Id="rId13" Type="http://schemas.openxmlformats.org/officeDocument/2006/relationships/image" Target="../media/image8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0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5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1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51.png"/><Relationship Id="rId7" Type="http://schemas.openxmlformats.org/officeDocument/2006/relationships/image" Target="../media/image47.png"/><Relationship Id="rId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0375" y="3219450"/>
            <a:ext cx="6191250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878436" y="1169850"/>
            <a:ext cx="869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Power Guardian Pro </a:t>
            </a:r>
            <a:r>
              <a:rPr b="1" i="0" lang="en-US" sz="4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947987" y="2114550"/>
            <a:ext cx="62960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Plataforma Inteligente de Monitoreo de Calidad de Energía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486150" y="3514725"/>
            <a:ext cx="54806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Fase 1 - Proyecto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486150" y="3886200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486150" y="4086225"/>
            <a:ext cx="5219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Equipo: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Cristóbal Mena, Francisco Neira, Fabián Bugueño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486150" y="4419600"/>
            <a:ext cx="5219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Asignatura: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Proyecto APT -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486150" y="4752975"/>
            <a:ext cx="5219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Institución: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Duoc UC, Ingeniería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521350" y="526375"/>
            <a:ext cx="1109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Tabla de Contenidos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" name="Google Shape;102;p2"/>
          <p:cNvGraphicFramePr/>
          <p:nvPr/>
        </p:nvGraphicFramePr>
        <p:xfrm>
          <a:off x="521350" y="158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{398EDC73-7797-4848-B318-9D01C38C17C0}</a:tableStyleId>
              </a:tblPr>
              <a:tblGrid>
                <a:gridCol w="5238750"/>
              </a:tblGrid>
              <a:tr h="487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01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Contexto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02 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Problema 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03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Necesidad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04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Propuesta de solución</a:t>
                      </a:r>
                      <a:endParaRPr sz="1800" u="none" cap="none" strike="noStrike">
                        <a:solidFill>
                          <a:srgbClr val="334155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05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Requerimientos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06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Épicas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07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Historias de Usuario</a:t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08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Arquitectura del sistema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" name="Google Shape;103;p2"/>
          <p:cNvGraphicFramePr/>
          <p:nvPr/>
        </p:nvGraphicFramePr>
        <p:xfrm>
          <a:off x="5760100" y="15583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{398EDC73-7797-4848-B318-9D01C38C17C0}</a:tableStyleId>
              </a:tblPr>
              <a:tblGrid>
                <a:gridCol w="5238750"/>
              </a:tblGrid>
              <a:tr h="53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09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Metodología de Trabajo</a:t>
                      </a:r>
                      <a:endParaRPr sz="1800" u="none" cap="none" strike="noStrike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10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Roles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11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Evidencias del Proyecto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12 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Evidencias por Sprint 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13 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Cronograma 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14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Conclusión</a:t>
                      </a:r>
                      <a:endParaRPr sz="1800" u="none" cap="none" strike="noStrike">
                        <a:solidFill>
                          <a:srgbClr val="334155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334155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284C7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15</a:t>
                      </a:r>
                      <a:r>
                        <a:rPr lang="en-US" sz="1800" u="none" cap="none" strike="noStrik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Reflexión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284C7"/>
                        </a:solidFill>
                        <a:latin typeface="Inter ExtraBold"/>
                        <a:ea typeface="Inter ExtraBold"/>
                        <a:cs typeface="Inter ExtraBold"/>
                        <a:sym typeface="Inter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70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249555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71187" y="76200"/>
            <a:ext cx="944612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71500" y="476250"/>
            <a:ext cx="4898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428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150"/>
              <a:buFont typeface="Inter"/>
              <a:buAutoNum type="arabicPeriod"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5355550" y="6457950"/>
            <a:ext cx="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71500" y="1295400"/>
            <a:ext cx="52387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proyecto surge en colaboración con la empresa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INDUC TECH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su tecnología preexistente: el hardware industrial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PowerGuardian Pro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71500" y="2252662"/>
            <a:ext cx="5238750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el sector minero e industrial, la calidad y estabilidad de la energía eléctrica son factores críticos. Las variaciones mínimas de voltaje o la presencia de ruido eléctrico pueden comprometer la continuidad de operaciones que cuestan miles de dólares por hora.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71500" y="3833000"/>
            <a:ext cx="52389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Desde la disciplina informática, el desafío técnico radica en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capturar, procesar y visualizar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variables eléctricas complejas en tiempo real, operando como una capa de inteligencia sobre la infraestructura física.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55018"/>
            <a:ext cx="3492549" cy="344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2055018"/>
            <a:ext cx="3492549" cy="344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2055018"/>
            <a:ext cx="3492549" cy="344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571500" y="501325"/>
            <a:ext cx="11102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El Problema a 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1" name="Google Shape;13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6700" y="247411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952529" y="3474243"/>
            <a:ext cx="27303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Sanciones Económicas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866775" y="3893343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redes industriales operan frecuentemente con un bajo factor de potencia, lo que detona severas multas por parte de las empresas distribuidoras eléctricas.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4" name="Google Shape;13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0" y="247411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4845843" y="3474243"/>
            <a:ext cx="25003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Fallas por Armónicos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4645074" y="3893343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uso de maquinaria pesada genera distorsión armónica (THD), provocando sobrecalentamiento y el disparo intempestivo de protecciones eléctricas.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7" name="Google Shape;13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93299" y="247411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8519130" y="3474243"/>
            <a:ext cx="27103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Carencia de Visibilidad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423374" y="3893343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Existe una ausencia de plataformas digitales centralizadas que traduzcan los datos eléctricos crudos en información útil para la prevención de fallas.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0" name="Google Shape;140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03400" y="270271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81700" y="270271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83799" y="2702718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16906"/>
            <a:ext cx="3492549" cy="371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916906"/>
            <a:ext cx="3492549" cy="371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916906"/>
            <a:ext cx="3492549" cy="371951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571500" y="434350"/>
            <a:ext cx="11092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La Necesidad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1458575" y="6457950"/>
            <a:ext cx="161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6" name="Google Shape;15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6700" y="23360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794225" y="3336131"/>
            <a:ext cx="304709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Visibilidad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66775" y="4031456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requiere proveer a los operadores de un dashboard intuitivo que muestre el estado de salud de la red (Voltaje, Corriente, THD) de forma inmediata.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9" name="Google Shape;15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0" y="23360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4745831" y="3336131"/>
            <a:ext cx="27003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Alertas Automatizadas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4645074" y="3755231"/>
            <a:ext cx="29019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 imperativo notificar al personal de mantenimiento ante eventos críticos antes de que estos se traduzcan en detenciones de planta costosas.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2" name="Google Shape;16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93299" y="233600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8350824" y="3336131"/>
            <a:ext cx="304709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Registro Histórico Confiable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8423374" y="4031456"/>
            <a:ext cx="290199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necesita almacenar datos estructurados para proyectar tendencias, auditar la calidad de energía a largo plazo y justificar futuras inversiones.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5" name="Google Shape;16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65300" y="256460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62650" y="2564606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40949" y="2564606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90762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33670" y="76200"/>
            <a:ext cx="1082129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609600" y="485500"/>
            <a:ext cx="10843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571500" y="1123950"/>
            <a:ext cx="5238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Desarrollar un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Producto Mínimo Viable (MVP) informático funcional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que opere como el cerebro digital del sistema industrial, independizando del hardware físico inicial.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1" name="Google Shape;18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2300287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571500" y="2838450"/>
            <a:ext cx="5238750" cy="1285875"/>
          </a:xfrm>
          <a:prstGeom prst="roundRect">
            <a:avLst>
              <a:gd fmla="val 59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000125" y="2690800"/>
            <a:ext cx="461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Motor de Simulación: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script que emulará el comportamiento de una red eléctrica real (condiciones normales y de falla).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71500" y="2547500"/>
            <a:ext cx="38100" cy="12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71500" y="3921913"/>
            <a:ext cx="5238900" cy="1285800"/>
          </a:xfrm>
          <a:prstGeom prst="roundRect">
            <a:avLst>
              <a:gd fmla="val 59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1000125" y="4328625"/>
            <a:ext cx="461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Backend y API REST: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Arquitectura para la ingesta constante de datos y el procesamiento de la lógica de evaluación.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71500" y="4124325"/>
            <a:ext cx="38100" cy="12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71500" y="5561650"/>
            <a:ext cx="5238900" cy="1285800"/>
          </a:xfrm>
          <a:prstGeom prst="roundRect">
            <a:avLst>
              <a:gd fmla="val 592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1000113" y="5930350"/>
            <a:ext cx="4619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Dashboard Web: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Interfaz gráfica interactiva para la visualización de métricas y control operativo.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71500" y="5548300"/>
            <a:ext cx="38100" cy="12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30432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4667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8188" y="610455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581100" y="413575"/>
            <a:ext cx="11029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Requerimientos  Funcionales</a:t>
            </a:r>
            <a:endParaRPr b="1" i="0" sz="3150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1" i="0" sz="3150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1458575" y="6457950"/>
            <a:ext cx="161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4" name="Google Shape;204;p7"/>
          <p:cNvGraphicFramePr/>
          <p:nvPr/>
        </p:nvGraphicFramePr>
        <p:xfrm>
          <a:off x="1183600" y="160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{186CF6F0-47FC-4BFF-BC8A-1C0545711593}</a:tableStyleId>
              </a:tblPr>
              <a:tblGrid>
                <a:gridCol w="782650"/>
                <a:gridCol w="2325400"/>
                <a:gridCol w="6716750"/>
              </a:tblGrid>
              <a:tr h="32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ID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Título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Requeriemiento funcional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RF-01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Adquisición de datos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recibir información eléctrica proveniente del tablero o dispositivo de medición.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RF-02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Monitoreo de parámetros eléctricos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monitorear los principales parámetros eléctricos de un sistema trifásico.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RF-03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Configuración de parámetros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permitir configurar los parámetros de entrada utilizados para la adquisición de datos.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RF-04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Panel de monitoreo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presentar la información mediante una interfaz gráfica que facilite su interpretación.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RF-05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Detección de anomalías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detectar valores anómalos o desbalances en los parámetros eléctricos monitoreados.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g3f8548adf50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g3f8548adf50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8548adf50_0_60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8548adf50_0_60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f8548adf50_0_60"/>
          <p:cNvSpPr txBox="1"/>
          <p:nvPr/>
        </p:nvSpPr>
        <p:spPr>
          <a:xfrm>
            <a:off x="11458575" y="6457950"/>
            <a:ext cx="16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4" name="Google Shape;214;g3f8548adf50_0_60"/>
          <p:cNvGraphicFramePr/>
          <p:nvPr/>
        </p:nvGraphicFramePr>
        <p:xfrm>
          <a:off x="1183600" y="160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{186CF6F0-47FC-4BFF-BC8A-1C0545711593}</a:tableStyleId>
              </a:tblPr>
              <a:tblGrid>
                <a:gridCol w="807725"/>
                <a:gridCol w="2300325"/>
                <a:gridCol w="6716750"/>
              </a:tblGrid>
              <a:tr h="32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ID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Título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chemeClr val="lt1"/>
                          </a:solidFill>
                        </a:rPr>
                        <a:t>Requerimiento funcional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RF-06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Identificación de condiciones críticas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identificar condiciones o errores críticos en el tablero eléctrico.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RF-07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Sistema de notificaciones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generar notificaciones cuando se detecte una condición crítica.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RF-08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Detalle de incidencias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informar los detalles relevantes asociados a la condición crítica detectada.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RF-09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Historial de incidencias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registrar y permitir consultar el historial de incidencias o alertas detectadas.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RF-10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/>
                        <a:t>Monitoreo de conectividad</a:t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El sistema debe detectar e informar la pérdida de comunicación con el dispositivo de medición.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g3f8548adf50_0_60"/>
          <p:cNvSpPr txBox="1"/>
          <p:nvPr/>
        </p:nvSpPr>
        <p:spPr>
          <a:xfrm>
            <a:off x="581100" y="413575"/>
            <a:ext cx="11029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Requerimientos  Funcionales</a:t>
            </a:r>
            <a:endParaRPr b="1" i="0" sz="3150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1" i="0" sz="3150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g3f8548adf50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g3f8548adf50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f8548adf50_0_71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8548adf50_0_71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8548adf50_0_71"/>
          <p:cNvSpPr txBox="1"/>
          <p:nvPr/>
        </p:nvSpPr>
        <p:spPr>
          <a:xfrm>
            <a:off x="11458575" y="6457950"/>
            <a:ext cx="16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" name="Google Shape;225;g3f8548adf50_0_71"/>
          <p:cNvGraphicFramePr/>
          <p:nvPr/>
        </p:nvGraphicFramePr>
        <p:xfrm>
          <a:off x="1488145" y="1244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{186CF6F0-47FC-4BFF-BC8A-1C0545711593}</a:tableStyleId>
              </a:tblPr>
              <a:tblGrid>
                <a:gridCol w="848725"/>
                <a:gridCol w="2796100"/>
                <a:gridCol w="5595950"/>
              </a:tblGrid>
              <a:tr h="62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ID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Título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</a:rPr>
                        <a:t>Requerimiento no funcional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7DBA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RNF-01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Rendimiento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El sistema debe actualizar los datos oportunamente.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RNF-02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Tiempo de notificación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Las alertas críticas deben generarse oportunamente.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RNF-03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Confiabilidad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El sistema debe garantizar la integridad de los datos.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RNF-04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Disponibilidad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El sistema debe estar disponible para realizar el monitoreo.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RNF-05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Seguridad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El sistema debe proteger el acceso a la información.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RNF-06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Usabilidad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La información y las alertas deben ser claras para el usuario.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57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RNF-07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Mantenibilidad y escalabilidad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El sistema debe facilitar su mantenimiento y crecimiento futuro.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g3f8548adf50_0_71"/>
          <p:cNvSpPr txBox="1"/>
          <p:nvPr/>
        </p:nvSpPr>
        <p:spPr>
          <a:xfrm>
            <a:off x="581100" y="413575"/>
            <a:ext cx="11029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Requerimientos No Funcionales</a:t>
            </a:r>
            <a:endParaRPr b="1" i="0" sz="3150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1" i="0" sz="3150" u="none" cap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224" y="1912025"/>
            <a:ext cx="3457735" cy="174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8940" y="1912025"/>
            <a:ext cx="3457735" cy="174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224" y="3921433"/>
            <a:ext cx="3457735" cy="174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8940" y="3921433"/>
            <a:ext cx="3457735" cy="174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904276" y="2225175"/>
            <a:ext cx="290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1. Adquisición de datos eléctricos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904235" y="2564430"/>
            <a:ext cx="2909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8"/>
              <a:buFont typeface="Arial"/>
              <a:buNone/>
            </a:pPr>
            <a:r>
              <a:rPr b="0" i="0" lang="en-US" sz="1438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Obtención de información desde el tablero o dispositivo de medición.</a:t>
            </a:r>
            <a:endParaRPr b="0" i="0" sz="19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4622948" y="2225175"/>
            <a:ext cx="286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2. Monitoreo y visualización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4622950" y="2564430"/>
            <a:ext cx="2909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8"/>
              <a:buFont typeface="Arial"/>
              <a:buNone/>
            </a:pPr>
            <a:r>
              <a:rPr b="0" i="0" lang="en-US" sz="1438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Visualización de parámetros eléctricos y del estado del sistema en tiempo real.</a:t>
            </a:r>
            <a:endParaRPr b="0" i="0" sz="19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904400" y="4234575"/>
            <a:ext cx="290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4. Alertas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904235" y="4573838"/>
            <a:ext cx="2909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8"/>
              <a:buFont typeface="Arial"/>
              <a:buNone/>
            </a:pPr>
            <a:r>
              <a:rPr b="0" i="0" lang="en-US" sz="1438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Generación y visualización de notificaciones ante condiciones críticas.</a:t>
            </a:r>
            <a:endParaRPr b="0" i="0" sz="19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4622948" y="4234575"/>
            <a:ext cx="290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5. Historial de Incidencias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4622950" y="4573838"/>
            <a:ext cx="2909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8"/>
              <a:buFont typeface="Arial"/>
              <a:buNone/>
            </a:pPr>
            <a:r>
              <a:rPr b="0" i="0" lang="en-US" sz="1438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 y consulta de alertas e incidencias detectadas.</a:t>
            </a:r>
            <a:endParaRPr b="0" i="0" sz="19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571500" y="488800"/>
            <a:ext cx="10967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6. Épicas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9" name="Google Shape;2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1666" y="1912025"/>
            <a:ext cx="3457735" cy="1748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1666" y="3921433"/>
            <a:ext cx="3457735" cy="174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 txBox="1"/>
          <p:nvPr/>
        </p:nvSpPr>
        <p:spPr>
          <a:xfrm>
            <a:off x="8615673" y="2225175"/>
            <a:ext cx="28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3. Anomalías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8615677" y="2564430"/>
            <a:ext cx="29097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8"/>
              <a:buFont typeface="Arial"/>
              <a:buNone/>
            </a:pPr>
            <a:r>
              <a:rPr b="0" i="0" lang="en-US" sz="1438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Identificación de valores anómalos, desbalances y condiciones críticas.</a:t>
            </a:r>
            <a:endParaRPr b="0" i="0" sz="19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8615673" y="4234575"/>
            <a:ext cx="300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6. Monitoreo de conectividad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8615677" y="4573838"/>
            <a:ext cx="2909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8"/>
              <a:buFont typeface="Arial"/>
              <a:buNone/>
            </a:pPr>
            <a:r>
              <a:rPr b="0" i="0" lang="en-US" sz="1438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Supervisión de la comunicación con el dispositivo de medición.</a:t>
            </a:r>
            <a:endParaRPr b="0" i="0" sz="19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 txBox="1"/>
          <p:nvPr/>
        </p:nvSpPr>
        <p:spPr>
          <a:xfrm>
            <a:off x="571500" y="526375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7. Historias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571500" y="6457950"/>
            <a:ext cx="2667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11477625" y="6457950"/>
            <a:ext cx="142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71500" y="1553200"/>
            <a:ext cx="11049000" cy="1112100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Operador: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Quiero visualizar el estado actual del panel eléctrico y sus condiciones a través de gráficos para identificar variaciones o comportamientos anómalos y recibir notificaciones si esto ocurre.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71500" y="1553200"/>
            <a:ext cx="38100" cy="1112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71500" y="2870700"/>
            <a:ext cx="11049000" cy="1112100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Tecnico: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Quiero consultar el historial de mediciones para analizar comportamientos, identificar condiciones y disponer de información clara para detectar qué ocasionó las anomalías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71500" y="2870700"/>
            <a:ext cx="38100" cy="1112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71500" y="4192710"/>
            <a:ext cx="11049000" cy="1112100"/>
          </a:xfrm>
          <a:prstGeom prst="roundRect">
            <a:avLst>
              <a:gd fmla="val 489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 del sistema: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Quiero configurar los parámetros de entrada de datos, verificar la ingesta y visualizar el estado de los componentes para corroborar el correcto funcionamiento del software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71500" y="4192710"/>
            <a:ext cx="38100" cy="1112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g3f9c8c7a50e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g3f9c8c7a50e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f9c8c7a50e_0_7"/>
          <p:cNvSpPr txBox="1"/>
          <p:nvPr/>
        </p:nvSpPr>
        <p:spPr>
          <a:xfrm>
            <a:off x="612150" y="494775"/>
            <a:ext cx="10967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8. Arquitectura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9c8c7a50e_0_7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9c8c7a50e_0_7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f9c8c7a50e_0_7"/>
          <p:cNvSpPr txBox="1"/>
          <p:nvPr/>
        </p:nvSpPr>
        <p:spPr>
          <a:xfrm>
            <a:off x="11449050" y="6457950"/>
            <a:ext cx="1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g3f9c8c7a50e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925" y="1514475"/>
            <a:ext cx="1217295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h5fd14f1ba485bc0d_3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h5fd14f1ba485bc0d_3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h5fd14f1ba485bc0d_3_60"/>
          <p:cNvSpPr txBox="1"/>
          <p:nvPr/>
        </p:nvSpPr>
        <p:spPr>
          <a:xfrm>
            <a:off x="612150" y="494775"/>
            <a:ext cx="10967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h5fd14f1ba485bc0d_3_60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h5fd14f1ba485bc0d_3_60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h5fd14f1ba485bc0d_3_60"/>
          <p:cNvSpPr txBox="1"/>
          <p:nvPr/>
        </p:nvSpPr>
        <p:spPr>
          <a:xfrm>
            <a:off x="11449050" y="6457950"/>
            <a:ext cx="1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h5fd14f1ba485bc0d_3_60" title="Modelo_relacional_page-000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8537" y="1116761"/>
            <a:ext cx="5554924" cy="519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57325"/>
            <a:ext cx="11211925" cy="48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9"/>
          <p:cNvSpPr txBox="1"/>
          <p:nvPr/>
        </p:nvSpPr>
        <p:spPr>
          <a:xfrm>
            <a:off x="605250" y="476250"/>
            <a:ext cx="1114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9. Metodología de Trabajo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571500" y="645795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11449050" y="6457950"/>
            <a:ext cx="171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961040" y="1786588"/>
            <a:ext cx="85833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938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1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Enfoque Ágil (Scrum)</a:t>
            </a:r>
            <a:endParaRPr b="0" i="0" sz="25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961050" y="2957450"/>
            <a:ext cx="10432800" cy="18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Adaptamos el marco de trabajo Scrum para realizar entregas incrementales y funcionales del software. Esto nos permite validar rápidamente las hipótesis arquitectónicas.</a:t>
            </a:r>
            <a:endParaRPr b="0" i="0" sz="1800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Trabajaremos en base a un </a:t>
            </a:r>
            <a:r>
              <a:rPr b="0" i="1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Product Backlog</a:t>
            </a: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enfocado estrictamente en la viabilidad del MVP informático, iterando sobre Sprints cortos y medibles.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06" name="Google Shape;30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40" y="1821522"/>
            <a:ext cx="419213" cy="41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 txBox="1"/>
          <p:nvPr/>
        </p:nvSpPr>
        <p:spPr>
          <a:xfrm>
            <a:off x="6667500" y="3693318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g3f8548adf50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g3f8548adf50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g3f8548adf50_0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74050"/>
            <a:ext cx="10472474" cy="48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f8548adf50_0_15"/>
          <p:cNvSpPr txBox="1"/>
          <p:nvPr/>
        </p:nvSpPr>
        <p:spPr>
          <a:xfrm>
            <a:off x="571500" y="470150"/>
            <a:ext cx="11144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10.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f8548adf50_0_15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8548adf50_0_15"/>
          <p:cNvSpPr txBox="1"/>
          <p:nvPr/>
        </p:nvSpPr>
        <p:spPr>
          <a:xfrm>
            <a:off x="571500" y="6457950"/>
            <a:ext cx="160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Power Guardian Pro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8548adf50_0_15"/>
          <p:cNvSpPr txBox="1"/>
          <p:nvPr/>
        </p:nvSpPr>
        <p:spPr>
          <a:xfrm>
            <a:off x="11449050" y="6457950"/>
            <a:ext cx="171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f8548adf50_0_15"/>
          <p:cNvSpPr txBox="1"/>
          <p:nvPr/>
        </p:nvSpPr>
        <p:spPr>
          <a:xfrm>
            <a:off x="952500" y="1758925"/>
            <a:ext cx="46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Distribución de 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0" name="Google Shape;320;g3f8548adf50_0_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17832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f8548adf50_0_15"/>
          <p:cNvSpPr/>
          <p:nvPr/>
        </p:nvSpPr>
        <p:spPr>
          <a:xfrm>
            <a:off x="952112" y="2342250"/>
            <a:ext cx="9731100" cy="835500"/>
          </a:xfrm>
          <a:prstGeom prst="roundRect">
            <a:avLst>
              <a:gd fmla="val 6400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8548adf50_0_15"/>
          <p:cNvSpPr txBox="1"/>
          <p:nvPr/>
        </p:nvSpPr>
        <p:spPr>
          <a:xfrm>
            <a:off x="1380737" y="2442516"/>
            <a:ext cx="8849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Francisco Neira: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Scrum Master / Developer</a:t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Responsabilidad Técnica: Motor Simulador, Lógica Backend y API REST.</a:t>
            </a:r>
            <a:endParaRPr b="1" sz="142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g3f8548adf50_0_15"/>
          <p:cNvSpPr/>
          <p:nvPr/>
        </p:nvSpPr>
        <p:spPr>
          <a:xfrm>
            <a:off x="952112" y="2342250"/>
            <a:ext cx="38100" cy="835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8548adf50_0_15"/>
          <p:cNvSpPr txBox="1"/>
          <p:nvPr/>
        </p:nvSpPr>
        <p:spPr>
          <a:xfrm>
            <a:off x="6667500" y="3693318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f8548adf50_0_15"/>
          <p:cNvSpPr/>
          <p:nvPr/>
        </p:nvSpPr>
        <p:spPr>
          <a:xfrm>
            <a:off x="952112" y="3278062"/>
            <a:ext cx="9731100" cy="835500"/>
          </a:xfrm>
          <a:prstGeom prst="roundRect">
            <a:avLst>
              <a:gd fmla="val 64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8548adf50_0_15"/>
          <p:cNvSpPr txBox="1"/>
          <p:nvPr/>
        </p:nvSpPr>
        <p:spPr>
          <a:xfrm>
            <a:off x="1380737" y="3378327"/>
            <a:ext cx="8849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Cristóbal Mena: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Developer</a:t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Responsabilidad Técnica: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Diseño de Base de Datos y Arquitectura general.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sz="142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g3f8548adf50_0_15"/>
          <p:cNvSpPr/>
          <p:nvPr/>
        </p:nvSpPr>
        <p:spPr>
          <a:xfrm>
            <a:off x="952112" y="3278062"/>
            <a:ext cx="38100" cy="835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8548adf50_0_15"/>
          <p:cNvSpPr/>
          <p:nvPr/>
        </p:nvSpPr>
        <p:spPr>
          <a:xfrm>
            <a:off x="952112" y="4213874"/>
            <a:ext cx="9731100" cy="715800"/>
          </a:xfrm>
          <a:prstGeom prst="roundRect">
            <a:avLst>
              <a:gd fmla="val 829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8548adf50_0_15"/>
          <p:cNvSpPr txBox="1"/>
          <p:nvPr/>
        </p:nvSpPr>
        <p:spPr>
          <a:xfrm>
            <a:off x="1380737" y="4263980"/>
            <a:ext cx="8989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Fabián Bugueño: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Developer</a:t>
            </a:r>
            <a:endParaRPr b="0" i="0" sz="14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Responsabilidad Técnica: Desarrollo Frontend, UX/UI y Dashboard.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8548adf50_0_15"/>
          <p:cNvSpPr/>
          <p:nvPr/>
        </p:nvSpPr>
        <p:spPr>
          <a:xfrm flipH="1">
            <a:off x="952112" y="4213874"/>
            <a:ext cx="38100" cy="71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8548adf50_0_15"/>
          <p:cNvSpPr/>
          <p:nvPr/>
        </p:nvSpPr>
        <p:spPr>
          <a:xfrm>
            <a:off x="932275" y="5029893"/>
            <a:ext cx="9731100" cy="715800"/>
          </a:xfrm>
          <a:prstGeom prst="roundRect">
            <a:avLst>
              <a:gd fmla="val 829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8548adf50_0_15"/>
          <p:cNvSpPr txBox="1"/>
          <p:nvPr/>
        </p:nvSpPr>
        <p:spPr>
          <a:xfrm>
            <a:off x="1380720" y="5216837"/>
            <a:ext cx="89898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Claudio Bugueño: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Product Owner</a:t>
            </a:r>
            <a:endParaRPr b="0" i="0" sz="14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8548adf50_0_15"/>
          <p:cNvSpPr/>
          <p:nvPr/>
        </p:nvSpPr>
        <p:spPr>
          <a:xfrm flipH="1">
            <a:off x="932275" y="5029893"/>
            <a:ext cx="38100" cy="71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g3f8548adf50_0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f8548adf50_0_218"/>
          <p:cNvSpPr txBox="1"/>
          <p:nvPr/>
        </p:nvSpPr>
        <p:spPr>
          <a:xfrm>
            <a:off x="571500" y="526375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11. Sprint 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f8548adf50_0_218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8548adf50_0_218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8548adf50_0_218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g3f8548adf50_0_218" title="Backlog resumen sprint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587" y="1487275"/>
            <a:ext cx="10256824" cy="21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f8548adf50_0_218" title="backlog integrantes sprint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9595" y="3792950"/>
            <a:ext cx="7572809" cy="21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h5fd14f1ba485bc0d_3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h5fd14f1ba485bc0d_3_36"/>
          <p:cNvSpPr txBox="1"/>
          <p:nvPr/>
        </p:nvSpPr>
        <p:spPr>
          <a:xfrm>
            <a:off x="571500" y="526375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11. Impediment 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h5fd14f1ba485bc0d_3_36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h5fd14f1ba485bc0d_3_36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h5fd14f1ba485bc0d_3_36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h5fd14f1ba485bc0d_3_36" title="impediment log sprint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1339" y="1124100"/>
            <a:ext cx="9529324" cy="479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h5fd14f1ba485bc0d_3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h5fd14f1ba485bc0d_3_44"/>
          <p:cNvSpPr txBox="1"/>
          <p:nvPr/>
        </p:nvSpPr>
        <p:spPr>
          <a:xfrm>
            <a:off x="571500" y="526375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11. Burndown Chart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h5fd14f1ba485bc0d_3_44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h5fd14f1ba485bc0d_3_44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h5fd14f1ba485bc0d_3_44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h5fd14f1ba485bc0d_3_44" title="Burndown Chart - Sprint 1 (4 semanas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5912" y="1170953"/>
            <a:ext cx="9640175" cy="51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h5fd14f1ba485bc0d_3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h5fd14f1ba485bc0d_3_52"/>
          <p:cNvSpPr txBox="1"/>
          <p:nvPr/>
        </p:nvSpPr>
        <p:spPr>
          <a:xfrm>
            <a:off x="571500" y="526375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11. Sprint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h5fd14f1ba485bc0d_3_52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h5fd14f1ba485bc0d_3_52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h5fd14f1ba485bc0d_3_52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h5fd14f1ba485bc0d_3_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50" y="1335550"/>
            <a:ext cx="5648251" cy="42675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h5fd14f1ba485bc0d_3_52"/>
          <p:cNvSpPr txBox="1"/>
          <p:nvPr/>
        </p:nvSpPr>
        <p:spPr>
          <a:xfrm>
            <a:off x="6361450" y="1760725"/>
            <a:ext cx="41754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Retroalimentación del Stakeholder</a:t>
            </a:r>
            <a:endParaRPr sz="1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Claudio Bugueño (INDUC TECH):</a:t>
            </a:r>
            <a:br>
              <a:rPr lang="en-US" sz="1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sz="1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"Ver TimescaleDB optimizando mediciones desde el Sprint 1 es una decisión muy acertada. El diseño da una apariencia profesional. Para el Sprint 2 quiero ver la clasificación de mediciones (normal/anomalía/crítico) y alertas."</a:t>
            </a:r>
            <a:endParaRPr sz="1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76" name="Google Shape;376;h5fd14f1ba485bc0d_3_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3225" y="3638725"/>
            <a:ext cx="2831850" cy="220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h5fd14f1ba485bc0d_3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h5fd14f1ba485bc0d_3_27"/>
          <p:cNvSpPr txBox="1"/>
          <p:nvPr/>
        </p:nvSpPr>
        <p:spPr>
          <a:xfrm>
            <a:off x="571500" y="526375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13. 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h5fd14f1ba485bc0d_3_27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h5fd14f1ba485bc0d_3_27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h5fd14f1ba485bc0d_3_27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h5fd14f1ba485bc0d_3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0575" y="1049900"/>
            <a:ext cx="7430851" cy="52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1" name="Google Shape;391;g3f8548adf50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g3f8548adf50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f8548adf50_0_208"/>
          <p:cNvSpPr txBox="1"/>
          <p:nvPr/>
        </p:nvSpPr>
        <p:spPr>
          <a:xfrm>
            <a:off x="571500" y="491900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14. Conclusión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f8548adf50_0_208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8548adf50_0_208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f8548adf50_0_208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7" name="Google Shape;397;g3f8548adf50_0_2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57325"/>
            <a:ext cx="11211925" cy="48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f8548adf50_0_208"/>
          <p:cNvSpPr txBox="1"/>
          <p:nvPr/>
        </p:nvSpPr>
        <p:spPr>
          <a:xfrm>
            <a:off x="961050" y="1910025"/>
            <a:ext cx="10432800" cy="3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definición de este proyecto permitió establecer con claridad el problema que se busca abordar, sus objetivos, alcance y principales funcionalidades. Además, se definió una planificación por sprints que permitirá desarrollar la solución de manera ordenada y progresiva, dejando una base clara para las siguientes etapas del proyecto.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g3f8548adf50_0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g3f8548adf50_0_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g3f8548adf50_0_1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57325"/>
            <a:ext cx="3492549" cy="2890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g3f8548adf50_0_1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457325"/>
            <a:ext cx="3492549" cy="2890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g3f8548adf50_0_1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457325"/>
            <a:ext cx="3492549" cy="2890837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f8548adf50_0_183"/>
          <p:cNvSpPr txBox="1"/>
          <p:nvPr/>
        </p:nvSpPr>
        <p:spPr>
          <a:xfrm>
            <a:off x="571488" y="460600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15. Reflexiones Finales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f8548adf50_0_183"/>
          <p:cNvSpPr/>
          <p:nvPr/>
        </p:nvSpPr>
        <p:spPr>
          <a:xfrm>
            <a:off x="571500" y="1104900"/>
            <a:ext cx="11049000" cy="1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8548adf50_0_183"/>
          <p:cNvSpPr txBox="1"/>
          <p:nvPr/>
        </p:nvSpPr>
        <p:spPr>
          <a:xfrm>
            <a:off x="571500" y="6457950"/>
            <a:ext cx="26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Confidencial - Uso Académico 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8548adf50_0_183"/>
          <p:cNvSpPr txBox="1"/>
          <p:nvPr/>
        </p:nvSpPr>
        <p:spPr>
          <a:xfrm>
            <a:off x="11477625" y="6457950"/>
            <a:ext cx="14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2" name="Google Shape;412;g3f8548adf50_0_18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31950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f8548adf50_0_183"/>
          <p:cNvSpPr txBox="1"/>
          <p:nvPr/>
        </p:nvSpPr>
        <p:spPr>
          <a:xfrm>
            <a:off x="1657617" y="2590800"/>
            <a:ext cx="132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Cristóbal Mena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f8548adf50_0_183"/>
          <p:cNvSpPr txBox="1"/>
          <p:nvPr/>
        </p:nvSpPr>
        <p:spPr>
          <a:xfrm>
            <a:off x="866775" y="2886075"/>
            <a:ext cx="2901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"Estructurar un modelo de datos robusto capaz de soportar la alta frecuencia de registros eléctricos es el pilar fundamental para asegurar la escalabilidad futura del sistema industrial."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5" name="Google Shape;415;g3f8548adf50_0_18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0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f8548adf50_0_183"/>
          <p:cNvSpPr txBox="1"/>
          <p:nvPr/>
        </p:nvSpPr>
        <p:spPr>
          <a:xfrm>
            <a:off x="5405913" y="2590800"/>
            <a:ext cx="138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Francisco Neira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f8548adf50_0_183"/>
          <p:cNvSpPr txBox="1"/>
          <p:nvPr/>
        </p:nvSpPr>
        <p:spPr>
          <a:xfrm>
            <a:off x="4645074" y="2886075"/>
            <a:ext cx="2901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"El reto de emular un entorno físico complejo a través de una API demuestra cómo el software puede anticiparse a la validación de hardware, agilizando el ciclo de desarrollo."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8" name="Google Shape;418;g3f8548adf50_0_18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88549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f8548adf50_0_183"/>
          <p:cNvSpPr txBox="1"/>
          <p:nvPr/>
        </p:nvSpPr>
        <p:spPr>
          <a:xfrm>
            <a:off x="9174212" y="2590800"/>
            <a:ext cx="140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Fabián Bugueño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8548adf50_0_183"/>
          <p:cNvSpPr txBox="1"/>
          <p:nvPr/>
        </p:nvSpPr>
        <p:spPr>
          <a:xfrm>
            <a:off x="8423374" y="2886075"/>
            <a:ext cx="2901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"Transformar datos técnicos crudos en una interfaz visual intuitiva es el paso clave para que las operaciones en la industria pasen de ser reactivas a ser proactivas."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21" name="Google Shape;421;g3f8548adf50_0_18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17687" y="20478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g3f8548adf50_0_18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95987" y="20478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g3f8548adf50_0_18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74287" y="204787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